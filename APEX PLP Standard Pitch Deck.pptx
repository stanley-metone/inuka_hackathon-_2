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7" r:id="rId2"/>
    <p:sldId id="273" r:id="rId3"/>
    <p:sldId id="259" r:id="rId4"/>
    <p:sldId id="260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Barlow" panose="020B0604020202020204" charset="0"/>
      <p:regular r:id="rId27"/>
      <p:bold r:id="rId28"/>
      <p:italic r:id="rId29"/>
      <p:boldItalic r:id="rId30"/>
    </p:embeddedFont>
    <p:embeddedFont>
      <p:font typeface="Barlow Semi-Bold" panose="020B0604020202020204" charset="0"/>
      <p:regular r:id="rId31"/>
    </p:embeddedFont>
    <p:embeddedFont>
      <p:font typeface="Barlow Medium" panose="020B0604020202020204" charset="0"/>
      <p:regular r:id="rId32"/>
      <p:italic r:id="rId33"/>
    </p:embeddedFont>
    <p:embeddedFont>
      <p:font typeface="Barlow Bold" panose="020B0604020202020204" charset="0"/>
      <p:regular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B6BC"/>
    <a:srgbClr val="0DF1F7"/>
    <a:srgbClr val="A611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26" y="9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commentAuthors" Target="commentAuthor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0" i="0" u="none" strike="noStrike" kern="1200" baseline="0">
                <a:solidFill>
                  <a:srgbClr val="16261F"/>
                </a:solidFill>
                <a:latin typeface="Arial"/>
                <a:ea typeface="+mn-ea"/>
                <a:cs typeface="+mn-cs"/>
              </a:defRPr>
            </a:pPr>
            <a:r>
              <a:rPr lang="en-US" sz="1300" b="0" i="0" u="none" strike="noStrike">
                <a:solidFill>
                  <a:srgbClr val="16261F"/>
                </a:solidFill>
                <a:latin typeface="Arial"/>
              </a:rPr>
              <a:t>Officer hours/week: manual pillar reporting</a:t>
            </a:r>
          </a:p>
        </c:rich>
      </c:tx>
      <c:layout>
        <c:manualLayout>
          <c:xMode val="edge"/>
          <c:yMode val="edge"/>
          <c:x val="0.19677657480314961"/>
          <c:y val="2.06855791962174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baseline="0">
              <a:solidFill>
                <a:srgbClr val="16261F"/>
              </a:solidFill>
              <a:latin typeface="Arial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Hours/week on manual reporting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CFD2-4E5B-A6F4-2AD7259E8FF4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FD2-4E5B-A6F4-2AD7259E8FF4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16261F"/>
                    </a:solidFill>
                    <a:latin typeface="Arial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 (Stage 1)</c:v>
                </c:pt>
                <c:pt idx="1">
                  <c:v>After (Inuka Pulse)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D2-4E5B-A6F4-2AD7259E8F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B6B6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3E7DF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5B6B63"/>
                </a:solidFill>
                <a:latin typeface="Arial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12D4C-5052-4D00-9862-1D05AB5D06E1}" type="datetimeFigureOut">
              <a:rPr lang="en-KE" smtClean="0"/>
              <a:t>08/25/2026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F0D98-6412-49DA-9DBD-4B3586BB506C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1938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10.jpeg"/><Relationship Id="rId7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stanleymetone@gmail.com" TargetMode="External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B6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0555" y="0"/>
            <a:ext cx="11178819" cy="10223617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l="-35381" t="-2505" b="-1008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8200" y="1581257"/>
            <a:ext cx="7467600" cy="3693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0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M&amp;E Dashboard &amp; Web Integration</a:t>
            </a:r>
            <a:endParaRPr lang="en-US" sz="8000" b="1" dirty="0">
              <a:solidFill>
                <a:srgbClr val="A61146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9257" y="9576600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01</a:t>
            </a:r>
          </a:p>
        </p:txBody>
      </p:sp>
      <p:sp>
        <p:nvSpPr>
          <p:cNvPr id="5" name="Freeform 5"/>
          <p:cNvSpPr/>
          <p:nvPr/>
        </p:nvSpPr>
        <p:spPr>
          <a:xfrm>
            <a:off x="11110869" y="1593957"/>
            <a:ext cx="5621312" cy="7251486"/>
          </a:xfrm>
          <a:custGeom>
            <a:avLst/>
            <a:gdLst/>
            <a:ahLst/>
            <a:cxnLst/>
            <a:rect l="l" t="t" r="r" b="b"/>
            <a:pathLst>
              <a:path w="5621312" h="7251486">
                <a:moveTo>
                  <a:pt x="0" y="0"/>
                </a:moveTo>
                <a:lnTo>
                  <a:pt x="5621312" y="0"/>
                </a:lnTo>
                <a:lnTo>
                  <a:pt x="5621312" y="7251486"/>
                </a:lnTo>
                <a:lnTo>
                  <a:pt x="0" y="7251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682" r="-3581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0555" y="-195848"/>
            <a:ext cx="1837509" cy="1837509"/>
          </a:xfrm>
          <a:custGeom>
            <a:avLst/>
            <a:gdLst/>
            <a:ahLst/>
            <a:cxnLst/>
            <a:rect l="l" t="t" r="r" b="b"/>
            <a:pathLst>
              <a:path w="1837509" h="1837509">
                <a:moveTo>
                  <a:pt x="0" y="0"/>
                </a:moveTo>
                <a:lnTo>
                  <a:pt x="1837510" y="0"/>
                </a:lnTo>
                <a:lnTo>
                  <a:pt x="1837510" y="1837510"/>
                </a:lnTo>
                <a:lnTo>
                  <a:pt x="0" y="18375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19B659AC-48E7-C30F-1190-FBD71A361AFA}"/>
              </a:ext>
            </a:extLst>
          </p:cNvPr>
          <p:cNvSpPr txBox="1"/>
          <p:nvPr/>
        </p:nvSpPr>
        <p:spPr>
          <a:xfrm>
            <a:off x="999203" y="6132926"/>
            <a:ext cx="7467600" cy="16619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spreadsheets to a live, unified view of every beneficiary across Inuka's four pillars.</a:t>
            </a:r>
            <a:endParaRPr lang="en-US" sz="3600" b="1" dirty="0">
              <a:solidFill>
                <a:srgbClr val="A6114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CD24-8E65-099B-82EE-91FD5C4B7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40E69A1-A4D1-2C92-41BA-50FA1AFFC750}"/>
              </a:ext>
            </a:extLst>
          </p:cNvPr>
          <p:cNvSpPr/>
          <p:nvPr/>
        </p:nvSpPr>
        <p:spPr>
          <a:xfrm>
            <a:off x="10363200" y="0"/>
            <a:ext cx="7924800" cy="10287000"/>
          </a:xfrm>
          <a:prstGeom prst="rect">
            <a:avLst/>
          </a:prstGeom>
          <a:solidFill>
            <a:srgbClr val="0BB6BC"/>
          </a:solid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56C7D4E-6EC3-2BF3-2DE6-03D4CA503503}"/>
              </a:ext>
            </a:extLst>
          </p:cNvPr>
          <p:cNvSpPr txBox="1"/>
          <p:nvPr/>
        </p:nvSpPr>
        <p:spPr>
          <a:xfrm>
            <a:off x="1207575" y="1994517"/>
            <a:ext cx="9456106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KE" sz="4000" b="1" dirty="0" smtClean="0"/>
              <a:t>Inuka Foundation’s M&amp;E reporting is fragmented, manual, and delayed, limiting real-time visibility into program reach, outcomes, impact, and performance. </a:t>
            </a:r>
            <a:endParaRPr lang="en-US" sz="4000" b="1" dirty="0"/>
          </a:p>
          <a:p>
            <a:pPr algn="just"/>
            <a:endParaRPr lang="en-US" sz="36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Scholarship, Plus, Vocational, and Tech programs report separately.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same beneficiary may be counted multiple times across pillars.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Leadership and donors receive historical reports instead of real-time insights.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Public visibility into impact is limited</a:t>
            </a:r>
            <a:r>
              <a:rPr lang="en-KE" sz="3600" dirty="0"/>
              <a:t>.</a:t>
            </a:r>
            <a:endParaRPr lang="en-US" sz="3600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D67E0CA-0E4A-822B-EA5E-206CC138DC70}"/>
              </a:ext>
            </a:extLst>
          </p:cNvPr>
          <p:cNvSpPr/>
          <p:nvPr/>
        </p:nvSpPr>
        <p:spPr>
          <a:xfrm>
            <a:off x="10663681" y="360947"/>
            <a:ext cx="7185562" cy="9471974"/>
          </a:xfrm>
          <a:custGeom>
            <a:avLst/>
            <a:gdLst/>
            <a:ahLst/>
            <a:cxnLst/>
            <a:rect l="l" t="t" r="r" b="b"/>
            <a:pathLst>
              <a:path w="6595619" h="8229600">
                <a:moveTo>
                  <a:pt x="0" y="0"/>
                </a:moveTo>
                <a:lnTo>
                  <a:pt x="6595619" y="0"/>
                </a:lnTo>
                <a:lnTo>
                  <a:pt x="6595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108" b="-10108"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E8346F-60C0-347D-1F9F-3B3D2B7A2E86}"/>
              </a:ext>
            </a:extLst>
          </p:cNvPr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8A3F135-F19A-F9A2-BEA2-06171B43A23D}"/>
              </a:ext>
            </a:extLst>
          </p:cNvPr>
          <p:cNvSpPr/>
          <p:nvPr/>
        </p:nvSpPr>
        <p:spPr>
          <a:xfrm>
            <a:off x="11178979" y="419475"/>
            <a:ext cx="1079292" cy="567102"/>
          </a:xfrm>
          <a:custGeom>
            <a:avLst/>
            <a:gdLst/>
            <a:ahLst/>
            <a:cxnLst/>
            <a:rect l="l" t="t" r="r" b="b"/>
            <a:pathLst>
              <a:path w="1079292" h="269823">
                <a:moveTo>
                  <a:pt x="0" y="0"/>
                </a:moveTo>
                <a:lnTo>
                  <a:pt x="1079292" y="0"/>
                </a:lnTo>
                <a:lnTo>
                  <a:pt x="1079292" y="269822"/>
                </a:lnTo>
                <a:lnTo>
                  <a:pt x="0" y="2698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83AE31-2820-6939-1F2E-27156BF42AEE}"/>
              </a:ext>
            </a:extLst>
          </p:cNvPr>
          <p:cNvSpPr txBox="1"/>
          <p:nvPr/>
        </p:nvSpPr>
        <p:spPr>
          <a:xfrm>
            <a:off x="1688884" y="1286631"/>
            <a:ext cx="48643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kern="0" spc="200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>
              <a:solidFill>
                <a:srgbClr val="A611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73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444798"/>
            <a:ext cx="1059192" cy="1059192"/>
            <a:chOff x="0" y="0"/>
            <a:chExt cx="1412257" cy="141225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412257" cy="1412257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90113E"/>
              </a:solidFill>
            </p:spPr>
          </p:sp>
        </p:grpSp>
        <p:sp>
          <p:nvSpPr>
            <p:cNvPr id="5" name="Freeform 5"/>
            <p:cNvSpPr/>
            <p:nvPr/>
          </p:nvSpPr>
          <p:spPr>
            <a:xfrm>
              <a:off x="474293" y="543843"/>
              <a:ext cx="463671" cy="324570"/>
            </a:xfrm>
            <a:custGeom>
              <a:avLst/>
              <a:gdLst/>
              <a:ahLst/>
              <a:cxnLst/>
              <a:rect l="l" t="t" r="r" b="b"/>
              <a:pathLst>
                <a:path w="463671" h="324570">
                  <a:moveTo>
                    <a:pt x="0" y="0"/>
                  </a:moveTo>
                  <a:lnTo>
                    <a:pt x="463671" y="0"/>
                  </a:lnTo>
                  <a:lnTo>
                    <a:pt x="463671" y="324570"/>
                  </a:lnTo>
                  <a:lnTo>
                    <a:pt x="0" y="32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xmlns="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533587" y="1248364"/>
            <a:ext cx="15125805" cy="10361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4000" b="1" u="none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Stage 1 gave us clean pipelines. Stage 2 makes them live.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06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B5F26B4-CB82-A18B-BE2A-857BC3FF9DE6}"/>
              </a:ext>
            </a:extLst>
          </p:cNvPr>
          <p:cNvGrpSpPr/>
          <p:nvPr/>
        </p:nvGrpSpPr>
        <p:grpSpPr>
          <a:xfrm>
            <a:off x="1447800" y="2551591"/>
            <a:ext cx="2400300" cy="2525123"/>
            <a:chOff x="1505696" y="3067045"/>
            <a:chExt cx="2400300" cy="2525123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CF365138-B137-1D03-9BF7-36846A4A1BA6}"/>
                </a:ext>
              </a:extLst>
            </p:cNvPr>
            <p:cNvSpPr/>
            <p:nvPr/>
          </p:nvSpPr>
          <p:spPr>
            <a:xfrm>
              <a:off x="1505696" y="3067045"/>
              <a:ext cx="2400300" cy="2525123"/>
            </a:xfrm>
            <a:prstGeom prst="roundRect">
              <a:avLst>
                <a:gd name="adj" fmla="val 5882"/>
              </a:avLst>
            </a:prstGeom>
            <a:solidFill>
              <a:srgbClr val="0BB6BC"/>
            </a:solidFill>
            <a:ln w="12700">
              <a:solidFill>
                <a:srgbClr val="1F7A5C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D5C5B0-12FA-B5A4-A05A-0D917197CC91}"/>
                </a:ext>
              </a:extLst>
            </p:cNvPr>
            <p:cNvSpPr txBox="1"/>
            <p:nvPr/>
          </p:nvSpPr>
          <p:spPr>
            <a:xfrm>
              <a:off x="1646654" y="3226037"/>
              <a:ext cx="2215247" cy="461665"/>
            </a:xfrm>
            <a:prstGeom prst="rect">
              <a:avLst/>
            </a:prstGeom>
            <a:solidFill>
              <a:srgbClr val="0BB6BC"/>
            </a:solidFill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rgbClr val="A61146"/>
                  </a:solidFill>
                </a:rPr>
                <a:t>4 Pillar Systems</a:t>
              </a:r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B3E8A4CA-874A-EE02-2E80-6C737A2F30B0}"/>
                </a:ext>
              </a:extLst>
            </p:cNvPr>
            <p:cNvSpPr/>
            <p:nvPr/>
          </p:nvSpPr>
          <p:spPr>
            <a:xfrm>
              <a:off x="1946433" y="4369892"/>
              <a:ext cx="1737360" cy="594360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SIS · Field app · LMS · Bootcamp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5B3B3A8-6D32-41A6-177A-A1869ABFD3BA}"/>
              </a:ext>
            </a:extLst>
          </p:cNvPr>
          <p:cNvGrpSpPr/>
          <p:nvPr/>
        </p:nvGrpSpPr>
        <p:grpSpPr>
          <a:xfrm>
            <a:off x="4449193" y="2551591"/>
            <a:ext cx="2546324" cy="2525123"/>
            <a:chOff x="4248255" y="3067045"/>
            <a:chExt cx="2546324" cy="2525123"/>
          </a:xfrm>
        </p:grpSpPr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965CF209-929D-F322-79B3-ABF8E0536B12}"/>
                </a:ext>
              </a:extLst>
            </p:cNvPr>
            <p:cNvSpPr/>
            <p:nvPr/>
          </p:nvSpPr>
          <p:spPr>
            <a:xfrm>
              <a:off x="4248255" y="3067045"/>
              <a:ext cx="2546324" cy="2525123"/>
            </a:xfrm>
            <a:prstGeom prst="roundRect">
              <a:avLst>
                <a:gd name="adj" fmla="val 5882"/>
              </a:avLst>
            </a:prstGeom>
            <a:solidFill>
              <a:srgbClr val="0BB6BC"/>
            </a:solidFill>
            <a:ln w="12700">
              <a:solidFill>
                <a:srgbClr val="1F7A5C"/>
              </a:solidFill>
              <a:prstDash val="solid"/>
            </a:ln>
          </p:spPr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0E792F56-0059-D943-08DE-ADABC690C886}"/>
                </a:ext>
              </a:extLst>
            </p:cNvPr>
            <p:cNvSpPr/>
            <p:nvPr/>
          </p:nvSpPr>
          <p:spPr>
            <a:xfrm>
              <a:off x="4616930" y="3226037"/>
              <a:ext cx="1961972" cy="433810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A611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Event Stream</a:t>
              </a:r>
              <a:endParaRPr lang="en-US" sz="2400" dirty="0">
                <a:solidFill>
                  <a:srgbClr val="A61146"/>
                </a:solidFill>
              </a:endParaRPr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013C4E5E-A33C-89BA-1F69-86AC3785A8DD}"/>
                </a:ext>
              </a:extLst>
            </p:cNvPr>
            <p:cNvSpPr/>
            <p:nvPr/>
          </p:nvSpPr>
          <p:spPr>
            <a:xfrm>
              <a:off x="4579169" y="4369892"/>
              <a:ext cx="1961972" cy="316120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CDC + Webhook ingest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69A391-71FA-A434-D3FC-B868BAD2BAA6}"/>
              </a:ext>
            </a:extLst>
          </p:cNvPr>
          <p:cNvGrpSpPr/>
          <p:nvPr/>
        </p:nvGrpSpPr>
        <p:grpSpPr>
          <a:xfrm>
            <a:off x="7610750" y="2551591"/>
            <a:ext cx="2295250" cy="2497909"/>
            <a:chOff x="7038601" y="3094259"/>
            <a:chExt cx="2295250" cy="2497909"/>
          </a:xfrm>
        </p:grpSpPr>
        <p:sp>
          <p:nvSpPr>
            <p:cNvPr id="26" name="Shape 10">
              <a:extLst>
                <a:ext uri="{FF2B5EF4-FFF2-40B4-BE49-F238E27FC236}">
                  <a16:creationId xmlns:a16="http://schemas.microsoft.com/office/drawing/2014/main" id="{F546D798-995F-6ECD-3336-F12BB8D6DA04}"/>
                </a:ext>
              </a:extLst>
            </p:cNvPr>
            <p:cNvSpPr/>
            <p:nvPr/>
          </p:nvSpPr>
          <p:spPr>
            <a:xfrm>
              <a:off x="7038601" y="3094259"/>
              <a:ext cx="2295250" cy="2497909"/>
            </a:xfrm>
            <a:prstGeom prst="roundRect">
              <a:avLst>
                <a:gd name="adj" fmla="val 5882"/>
              </a:avLst>
            </a:prstGeom>
            <a:solidFill>
              <a:srgbClr val="0BB6BC"/>
            </a:solidFill>
            <a:ln w="12700">
              <a:solidFill>
                <a:srgbClr val="1F7A5C"/>
              </a:solidFill>
              <a:prstDash val="solid"/>
            </a:ln>
          </p:spPr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470EFE6A-3EB0-CFC1-9710-A8B1961E38D4}"/>
                </a:ext>
              </a:extLst>
            </p:cNvPr>
            <p:cNvSpPr/>
            <p:nvPr/>
          </p:nvSpPr>
          <p:spPr>
            <a:xfrm>
              <a:off x="7254278" y="3226037"/>
              <a:ext cx="2079573" cy="326189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A611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Identity Graph</a:t>
              </a:r>
              <a:endParaRPr lang="en-US" sz="2400" dirty="0">
                <a:solidFill>
                  <a:srgbClr val="A61146"/>
                </a:solidFill>
              </a:endParaRPr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7CE5887F-8011-E8AB-28FC-089EC50859B6}"/>
                </a:ext>
              </a:extLst>
            </p:cNvPr>
            <p:cNvSpPr/>
            <p:nvPr/>
          </p:nvSpPr>
          <p:spPr>
            <a:xfrm>
              <a:off x="7490866" y="4369892"/>
              <a:ext cx="1627454" cy="671201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Unified beneficiary ID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B086AF4-7173-1F7B-34D1-7B18B5B806DD}"/>
              </a:ext>
            </a:extLst>
          </p:cNvPr>
          <p:cNvGrpSpPr/>
          <p:nvPr/>
        </p:nvGrpSpPr>
        <p:grpSpPr>
          <a:xfrm>
            <a:off x="10503922" y="2476500"/>
            <a:ext cx="2450078" cy="2497909"/>
            <a:chOff x="10088880" y="3067045"/>
            <a:chExt cx="2450078" cy="2497909"/>
          </a:xfrm>
        </p:grpSpPr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084A289F-D485-4BEE-9816-3FA9FCB1C901}"/>
                </a:ext>
              </a:extLst>
            </p:cNvPr>
            <p:cNvSpPr/>
            <p:nvPr/>
          </p:nvSpPr>
          <p:spPr>
            <a:xfrm>
              <a:off x="10966704" y="3363185"/>
              <a:ext cx="361416" cy="1755449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dirty="0">
                  <a:solidFill>
                    <a:srgbClr val="A611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</a:t>
              </a:r>
              <a:endParaRPr lang="en-US" sz="2000" dirty="0">
                <a:solidFill>
                  <a:srgbClr val="A61146"/>
                </a:solidFill>
              </a:endParaRPr>
            </a:p>
          </p:txBody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33E62189-2A4F-622C-50E5-F058EA094E73}"/>
                </a:ext>
              </a:extLst>
            </p:cNvPr>
            <p:cNvSpPr/>
            <p:nvPr/>
          </p:nvSpPr>
          <p:spPr>
            <a:xfrm>
              <a:off x="10088880" y="3067045"/>
              <a:ext cx="2450078" cy="2497909"/>
            </a:xfrm>
            <a:prstGeom prst="roundRect">
              <a:avLst>
                <a:gd name="adj" fmla="val 5882"/>
              </a:avLst>
            </a:prstGeom>
            <a:solidFill>
              <a:srgbClr val="0BB6BC"/>
            </a:solidFill>
            <a:ln w="12700">
              <a:solidFill>
                <a:srgbClr val="1F7A5C"/>
              </a:solidFill>
              <a:prstDash val="solid"/>
            </a:ln>
          </p:spPr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1D56FAB0-EB6B-B0FF-67A9-247CF8E4A0C1}"/>
                </a:ext>
              </a:extLst>
            </p:cNvPr>
            <p:cNvSpPr/>
            <p:nvPr/>
          </p:nvSpPr>
          <p:spPr>
            <a:xfrm>
              <a:off x="10261550" y="3226037"/>
              <a:ext cx="2175623" cy="774463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A611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Live Aggregation</a:t>
              </a:r>
              <a:endParaRPr lang="en-US" sz="2400" dirty="0">
                <a:solidFill>
                  <a:srgbClr val="A61146"/>
                </a:solidFill>
              </a:endParaRPr>
            </a:p>
          </p:txBody>
        </p:sp>
        <p:sp>
          <p:nvSpPr>
            <p:cNvPr id="38" name="Text 16">
              <a:extLst>
                <a:ext uri="{FF2B5EF4-FFF2-40B4-BE49-F238E27FC236}">
                  <a16:creationId xmlns:a16="http://schemas.microsoft.com/office/drawing/2014/main" id="{F97735F2-3A40-B40F-2111-8ABAEF660958}"/>
                </a:ext>
              </a:extLst>
            </p:cNvPr>
            <p:cNvSpPr/>
            <p:nvPr/>
          </p:nvSpPr>
          <p:spPr>
            <a:xfrm>
              <a:off x="10475201" y="4369892"/>
              <a:ext cx="1961972" cy="671201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15-Second window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AD3BD6D-2692-6828-1C9F-E551324C226A}"/>
              </a:ext>
            </a:extLst>
          </p:cNvPr>
          <p:cNvGrpSpPr/>
          <p:nvPr/>
        </p:nvGrpSpPr>
        <p:grpSpPr>
          <a:xfrm>
            <a:off x="13563600" y="2530392"/>
            <a:ext cx="2209800" cy="2497909"/>
            <a:chOff x="13563600" y="3067045"/>
            <a:chExt cx="2209800" cy="2497909"/>
          </a:xfrm>
        </p:grpSpPr>
        <p:sp>
          <p:nvSpPr>
            <p:cNvPr id="42" name="Shape 18">
              <a:extLst>
                <a:ext uri="{FF2B5EF4-FFF2-40B4-BE49-F238E27FC236}">
                  <a16:creationId xmlns:a16="http://schemas.microsoft.com/office/drawing/2014/main" id="{AF6231E6-176E-5304-1870-A6D4967541D6}"/>
                </a:ext>
              </a:extLst>
            </p:cNvPr>
            <p:cNvSpPr/>
            <p:nvPr/>
          </p:nvSpPr>
          <p:spPr>
            <a:xfrm>
              <a:off x="13563600" y="3067045"/>
              <a:ext cx="2209800" cy="2497909"/>
            </a:xfrm>
            <a:prstGeom prst="roundRect">
              <a:avLst>
                <a:gd name="adj" fmla="val 5882"/>
              </a:avLst>
            </a:prstGeom>
            <a:solidFill>
              <a:srgbClr val="0BB6BC"/>
            </a:solidFill>
            <a:ln w="12700">
              <a:solidFill>
                <a:srgbClr val="1F7A5C"/>
              </a:solidFill>
              <a:prstDash val="solid"/>
            </a:ln>
          </p:spPr>
        </p:sp>
        <p:sp>
          <p:nvSpPr>
            <p:cNvPr id="44" name="Text 19">
              <a:extLst>
                <a:ext uri="{FF2B5EF4-FFF2-40B4-BE49-F238E27FC236}">
                  <a16:creationId xmlns:a16="http://schemas.microsoft.com/office/drawing/2014/main" id="{304D501E-207D-949F-B89D-6E6B3AF921AE}"/>
                </a:ext>
              </a:extLst>
            </p:cNvPr>
            <p:cNvSpPr/>
            <p:nvPr/>
          </p:nvSpPr>
          <p:spPr>
            <a:xfrm>
              <a:off x="14039745" y="3226037"/>
              <a:ext cx="1492947" cy="774463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A611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 + Website</a:t>
              </a:r>
              <a:endParaRPr lang="en-US" sz="2400" dirty="0">
                <a:solidFill>
                  <a:srgbClr val="A61146"/>
                </a:solidFill>
              </a:endParaRPr>
            </a:p>
          </p:txBody>
        </p:sp>
        <p:sp>
          <p:nvSpPr>
            <p:cNvPr id="46" name="Text 20">
              <a:extLst>
                <a:ext uri="{FF2B5EF4-FFF2-40B4-BE49-F238E27FC236}">
                  <a16:creationId xmlns:a16="http://schemas.microsoft.com/office/drawing/2014/main" id="{EC6EC7E5-6CFE-114C-5505-ECF0946BC5D7}"/>
                </a:ext>
              </a:extLst>
            </p:cNvPr>
            <p:cNvSpPr/>
            <p:nvPr/>
          </p:nvSpPr>
          <p:spPr>
            <a:xfrm>
              <a:off x="13673329" y="4369892"/>
              <a:ext cx="1961972" cy="671201"/>
            </a:xfrm>
            <a:prstGeom prst="rect">
              <a:avLst/>
            </a:prstGeom>
            <a:solidFill>
              <a:srgbClr val="0BB6BC"/>
            </a:solidFill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Admin + Public Widget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C27354C-813C-684B-9EA6-9C0D208F61C1}"/>
              </a:ext>
            </a:extLst>
          </p:cNvPr>
          <p:cNvSpPr/>
          <p:nvPr/>
        </p:nvSpPr>
        <p:spPr>
          <a:xfrm>
            <a:off x="3905995" y="3574855"/>
            <a:ext cx="543197" cy="74400"/>
          </a:xfrm>
          <a:prstGeom prst="rightArrow">
            <a:avLst/>
          </a:prstGeom>
          <a:solidFill>
            <a:srgbClr val="A61146"/>
          </a:solidFill>
          <a:ln>
            <a:solidFill>
              <a:srgbClr val="A61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D961DE9D-98EB-2C44-B6ED-A72E5DE11673}"/>
              </a:ext>
            </a:extLst>
          </p:cNvPr>
          <p:cNvSpPr/>
          <p:nvPr/>
        </p:nvSpPr>
        <p:spPr>
          <a:xfrm>
            <a:off x="7076803" y="3574855"/>
            <a:ext cx="543197" cy="74400"/>
          </a:xfrm>
          <a:prstGeom prst="rightArrow">
            <a:avLst/>
          </a:prstGeom>
          <a:solidFill>
            <a:srgbClr val="A61146"/>
          </a:solidFill>
          <a:ln>
            <a:solidFill>
              <a:srgbClr val="A61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4CAF1565-AF19-B981-383B-7D34AE0C0CA0}"/>
              </a:ext>
            </a:extLst>
          </p:cNvPr>
          <p:cNvSpPr/>
          <p:nvPr/>
        </p:nvSpPr>
        <p:spPr>
          <a:xfrm>
            <a:off x="9972403" y="3574855"/>
            <a:ext cx="543197" cy="74400"/>
          </a:xfrm>
          <a:prstGeom prst="rightArrow">
            <a:avLst/>
          </a:prstGeom>
          <a:solidFill>
            <a:srgbClr val="A61146"/>
          </a:solidFill>
          <a:ln>
            <a:solidFill>
              <a:srgbClr val="A61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D6F98E92-FA27-0BEB-4A6B-A62F446DA61C}"/>
              </a:ext>
            </a:extLst>
          </p:cNvPr>
          <p:cNvSpPr/>
          <p:nvPr/>
        </p:nvSpPr>
        <p:spPr>
          <a:xfrm>
            <a:off x="13008725" y="3574855"/>
            <a:ext cx="543197" cy="74400"/>
          </a:xfrm>
          <a:prstGeom prst="rightArrow">
            <a:avLst/>
          </a:prstGeom>
          <a:solidFill>
            <a:srgbClr val="A61146"/>
          </a:solidFill>
          <a:ln>
            <a:solidFill>
              <a:srgbClr val="A611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F637AD3-5F17-7ED6-07C9-890F4116D0F5}"/>
              </a:ext>
            </a:extLst>
          </p:cNvPr>
          <p:cNvSpPr txBox="1"/>
          <p:nvPr/>
        </p:nvSpPr>
        <p:spPr>
          <a:xfrm>
            <a:off x="2676015" y="5268214"/>
            <a:ext cx="144599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Unifies beneficiary records across all pillars.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Streams updates continuously from source systems.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Provides one source of truth for reporting.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Delivers live dashboards for management.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Powers a public impact widget on the Foundation website.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Enables offline field-data capture and synchronization.</a:t>
            </a:r>
            <a:endParaRPr lang="en-KE" sz="4000" b="1" dirty="0"/>
          </a:p>
        </p:txBody>
      </p:sp>
      <p:sp>
        <p:nvSpPr>
          <p:cNvPr id="96" name="TextBox 6">
            <a:extLst>
              <a:ext uri="{FF2B5EF4-FFF2-40B4-BE49-F238E27FC236}">
                <a16:creationId xmlns:a16="http://schemas.microsoft.com/office/drawing/2014/main" id="{47250D81-1CFD-5D1C-B459-E200C7C359B7}"/>
              </a:ext>
            </a:extLst>
          </p:cNvPr>
          <p:cNvSpPr txBox="1"/>
          <p:nvPr/>
        </p:nvSpPr>
        <p:spPr>
          <a:xfrm>
            <a:off x="838200" y="200679"/>
            <a:ext cx="3200401" cy="1092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</a:pPr>
            <a:r>
              <a:rPr lang="en-US" sz="6600" b="1" u="none" dirty="0">
                <a:solidFill>
                  <a:srgbClr val="A61146"/>
                </a:solidFill>
                <a:latin typeface="Barlow Bold"/>
                <a:ea typeface="Barlow Bold"/>
                <a:cs typeface="Barlow Bold"/>
                <a:sym typeface="Barlow Bold"/>
              </a:rPr>
              <a:t>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1084079" y="332618"/>
            <a:ext cx="8663715" cy="113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7200" b="1" u="none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Product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44E74784-205F-A40D-2FF2-4C3D9E089DCA}"/>
              </a:ext>
            </a:extLst>
          </p:cNvPr>
          <p:cNvSpPr/>
          <p:nvPr/>
        </p:nvSpPr>
        <p:spPr>
          <a:xfrm>
            <a:off x="2115457" y="1450733"/>
            <a:ext cx="14934900" cy="849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Inuka Pulse: One live view, four pillars, zero spreadsheets.</a:t>
            </a:r>
            <a:endParaRPr lang="en-US" sz="44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DF96F184-3F1F-EB76-20C0-73CC8B683DF4}"/>
              </a:ext>
            </a:extLst>
          </p:cNvPr>
          <p:cNvSpPr/>
          <p:nvPr/>
        </p:nvSpPr>
        <p:spPr>
          <a:xfrm>
            <a:off x="2073728" y="2450841"/>
            <a:ext cx="388910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 — LIVE</a:t>
            </a:r>
            <a:endParaRPr lang="en-US" sz="2800" dirty="0">
              <a:solidFill>
                <a:srgbClr val="0BB6BC"/>
              </a:solidFill>
            </a:endParaRP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5C3AC6E2-D6D0-0D2F-7AD2-259EAA4BA145}"/>
              </a:ext>
            </a:extLst>
          </p:cNvPr>
          <p:cNvSpPr/>
          <p:nvPr/>
        </p:nvSpPr>
        <p:spPr>
          <a:xfrm>
            <a:off x="2102396" y="3129058"/>
            <a:ext cx="3683726" cy="1220561"/>
          </a:xfrm>
          <a:prstGeom prst="roundRect">
            <a:avLst>
              <a:gd name="adj" fmla="val 6957"/>
            </a:avLst>
          </a:prstGeom>
          <a:solidFill>
            <a:srgbClr val="A61146"/>
          </a:solidFill>
          <a:ln w="12700">
            <a:solidFill>
              <a:srgbClr val="2A3A31"/>
            </a:solidFill>
            <a:prstDash val="solid"/>
          </a:ln>
        </p:spPr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96F6CD3A-AD4D-4A72-CACD-6F823E7F433F}"/>
              </a:ext>
            </a:extLst>
          </p:cNvPr>
          <p:cNvSpPr/>
          <p:nvPr/>
        </p:nvSpPr>
        <p:spPr>
          <a:xfrm>
            <a:off x="2381069" y="3265238"/>
            <a:ext cx="3274423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beneficiaries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33EFBF7-0D81-7720-EA2D-DDBE8F6A3BFD}"/>
              </a:ext>
            </a:extLst>
          </p:cNvPr>
          <p:cNvSpPr/>
          <p:nvPr/>
        </p:nvSpPr>
        <p:spPr>
          <a:xfrm>
            <a:off x="2813231" y="3598526"/>
            <a:ext cx="3274423" cy="68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4,820</a:t>
            </a:r>
            <a:endParaRPr lang="en-US" sz="2600" dirty="0">
              <a:solidFill>
                <a:srgbClr val="0BB6B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2108103-F8EB-8D8C-A477-334A52E8A4BA}"/>
              </a:ext>
            </a:extLst>
          </p:cNvPr>
          <p:cNvSpPr/>
          <p:nvPr/>
        </p:nvSpPr>
        <p:spPr>
          <a:xfrm>
            <a:off x="7084423" y="3114494"/>
            <a:ext cx="3683726" cy="1220561"/>
          </a:xfrm>
          <a:prstGeom prst="roundRect">
            <a:avLst>
              <a:gd name="adj" fmla="val 6957"/>
            </a:avLst>
          </a:prstGeom>
          <a:solidFill>
            <a:srgbClr val="A61146"/>
          </a:solidFill>
          <a:ln w="12700">
            <a:solidFill>
              <a:srgbClr val="2A3A31"/>
            </a:solidFill>
            <a:prstDash val="solid"/>
          </a:ln>
        </p:spPr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93A9312-1FE1-5527-B5A4-C9CA03303833}"/>
              </a:ext>
            </a:extLst>
          </p:cNvPr>
          <p:cNvSpPr/>
          <p:nvPr/>
        </p:nvSpPr>
        <p:spPr>
          <a:xfrm>
            <a:off x="7358882" y="3196408"/>
            <a:ext cx="3274423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streamed/24h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F4525E4D-3609-272D-F58D-17C65ECB776E}"/>
              </a:ext>
            </a:extLst>
          </p:cNvPr>
          <p:cNvSpPr/>
          <p:nvPr/>
        </p:nvSpPr>
        <p:spPr>
          <a:xfrm>
            <a:off x="7903030" y="3609975"/>
            <a:ext cx="3274423" cy="68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34,720</a:t>
            </a:r>
            <a:endParaRPr lang="en-US" sz="2600" dirty="0">
              <a:solidFill>
                <a:srgbClr val="0DF1F7"/>
              </a:solidFill>
            </a:endParaRPr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6DC6ABA5-2B41-4DE7-A3E5-8A4CF96C4E26}"/>
              </a:ext>
            </a:extLst>
          </p:cNvPr>
          <p:cNvSpPr/>
          <p:nvPr/>
        </p:nvSpPr>
        <p:spPr>
          <a:xfrm>
            <a:off x="2115457" y="5357553"/>
            <a:ext cx="3683726" cy="1220561"/>
          </a:xfrm>
          <a:prstGeom prst="roundRect">
            <a:avLst>
              <a:gd name="adj" fmla="val 6957"/>
            </a:avLst>
          </a:prstGeom>
          <a:solidFill>
            <a:srgbClr val="A61146"/>
          </a:solidFill>
          <a:ln w="12700">
            <a:solidFill>
              <a:srgbClr val="2A3A31"/>
            </a:solidFill>
            <a:prstDash val="solid"/>
          </a:ln>
        </p:spPr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6DC0984B-78C7-59DC-8504-89634DB3FD8B}"/>
              </a:ext>
            </a:extLst>
          </p:cNvPr>
          <p:cNvSpPr/>
          <p:nvPr/>
        </p:nvSpPr>
        <p:spPr>
          <a:xfrm>
            <a:off x="2567578" y="5470870"/>
            <a:ext cx="3274423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freshness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C4223133-33AA-6FF8-62A3-28CA4A279FFE}"/>
              </a:ext>
            </a:extLst>
          </p:cNvPr>
          <p:cNvSpPr/>
          <p:nvPr/>
        </p:nvSpPr>
        <p:spPr>
          <a:xfrm>
            <a:off x="2720339" y="5789277"/>
            <a:ext cx="3274423" cy="68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sec</a:t>
            </a:r>
            <a:endParaRPr lang="en-US" sz="2600" dirty="0">
              <a:solidFill>
                <a:srgbClr val="0DF1F7"/>
              </a:solidFill>
            </a:endParaRPr>
          </a:p>
        </p:txBody>
      </p:sp>
      <p:sp>
        <p:nvSpPr>
          <p:cNvPr id="50" name="Shape 13">
            <a:extLst>
              <a:ext uri="{FF2B5EF4-FFF2-40B4-BE49-F238E27FC236}">
                <a16:creationId xmlns:a16="http://schemas.microsoft.com/office/drawing/2014/main" id="{4A7215CA-105B-E2CF-1181-15D4F67518CF}"/>
              </a:ext>
            </a:extLst>
          </p:cNvPr>
          <p:cNvSpPr/>
          <p:nvPr/>
        </p:nvSpPr>
        <p:spPr>
          <a:xfrm>
            <a:off x="7084423" y="5335180"/>
            <a:ext cx="3683726" cy="1220561"/>
          </a:xfrm>
          <a:prstGeom prst="roundRect">
            <a:avLst>
              <a:gd name="adj" fmla="val 6957"/>
            </a:avLst>
          </a:prstGeom>
          <a:solidFill>
            <a:srgbClr val="A61146"/>
          </a:solidFill>
          <a:ln w="12700">
            <a:solidFill>
              <a:srgbClr val="2A3A31"/>
            </a:solidFill>
            <a:prstDash val="solid"/>
          </a:ln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7C37F43E-F1EA-C392-B0C4-18364A697D1B}"/>
              </a:ext>
            </a:extLst>
          </p:cNvPr>
          <p:cNvSpPr/>
          <p:nvPr/>
        </p:nvSpPr>
        <p:spPr>
          <a:xfrm>
            <a:off x="7493726" y="5428743"/>
            <a:ext cx="3274423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hrs saved/wk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FFF8565B-A0D5-CE55-3B06-5FB6E9A0777A}"/>
              </a:ext>
            </a:extLst>
          </p:cNvPr>
          <p:cNvSpPr/>
          <p:nvPr/>
        </p:nvSpPr>
        <p:spPr>
          <a:xfrm>
            <a:off x="8128726" y="5726903"/>
            <a:ext cx="3274423" cy="6898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10677475-0311-53CB-AA13-E97687389E55}"/>
              </a:ext>
            </a:extLst>
          </p:cNvPr>
          <p:cNvSpPr/>
          <p:nvPr/>
        </p:nvSpPr>
        <p:spPr>
          <a:xfrm>
            <a:off x="2115456" y="6939953"/>
            <a:ext cx="9619343" cy="1273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pillars: Scholarship · Plus · Vocational · Tech — deduplicated via one identity graph, updating live.</a:t>
            </a:r>
            <a:endParaRPr lang="en-US" b="1" dirty="0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C64D50F8-C1FA-6A27-95A6-FACD80A6CC87}"/>
              </a:ext>
            </a:extLst>
          </p:cNvPr>
          <p:cNvSpPr/>
          <p:nvPr/>
        </p:nvSpPr>
        <p:spPr>
          <a:xfrm>
            <a:off x="13220339" y="2476500"/>
            <a:ext cx="3581400" cy="1485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A2CCA556-5CA0-5CA8-09E0-293F3BF874FE}"/>
              </a:ext>
            </a:extLst>
          </p:cNvPr>
          <p:cNvSpPr/>
          <p:nvPr/>
        </p:nvSpPr>
        <p:spPr>
          <a:xfrm>
            <a:off x="13770429" y="2631985"/>
            <a:ext cx="3069771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2400" b="1" dirty="0">
              <a:solidFill>
                <a:srgbClr val="A61146"/>
              </a:solidFill>
            </a:endParaRPr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1C99233C-7711-2397-53E9-029B60DA3A93}"/>
              </a:ext>
            </a:extLst>
          </p:cNvPr>
          <p:cNvSpPr/>
          <p:nvPr/>
        </p:nvSpPr>
        <p:spPr>
          <a:xfrm>
            <a:off x="13770429" y="3043466"/>
            <a:ext cx="30697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reach &amp; outcomes, all 4 pillars</a:t>
            </a:r>
            <a:endParaRPr lang="en-US" b="1" dirty="0">
              <a:solidFill>
                <a:srgbClr val="A61146"/>
              </a:solidFill>
            </a:endParaRPr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4C9DD817-C0F4-581D-DA0E-B9B3CDF0E751}"/>
              </a:ext>
            </a:extLst>
          </p:cNvPr>
          <p:cNvSpPr/>
          <p:nvPr/>
        </p:nvSpPr>
        <p:spPr>
          <a:xfrm>
            <a:off x="13220339" y="4066632"/>
            <a:ext cx="3581400" cy="1485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71A75C9C-FD14-183A-5E5E-7C3D92E43ADB}"/>
              </a:ext>
            </a:extLst>
          </p:cNvPr>
          <p:cNvSpPr/>
          <p:nvPr/>
        </p:nvSpPr>
        <p:spPr>
          <a:xfrm>
            <a:off x="13770429" y="4140745"/>
            <a:ext cx="3069771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Fabric</a:t>
            </a:r>
            <a:endParaRPr lang="en-US" sz="2400" b="1" dirty="0">
              <a:solidFill>
                <a:srgbClr val="A61146"/>
              </a:solidFill>
            </a:endParaRPr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9BFB0FE8-A929-6832-3658-58BB41DC4C46}"/>
              </a:ext>
            </a:extLst>
          </p:cNvPr>
          <p:cNvSpPr/>
          <p:nvPr/>
        </p:nvSpPr>
        <p:spPr>
          <a:xfrm>
            <a:off x="13770429" y="4552226"/>
            <a:ext cx="30697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identity graph resolves duplicates</a:t>
            </a:r>
            <a:endParaRPr lang="en-US" b="1" dirty="0">
              <a:solidFill>
                <a:srgbClr val="A61146"/>
              </a:solidFill>
            </a:endParaRPr>
          </a:p>
        </p:txBody>
      </p:sp>
      <p:sp>
        <p:nvSpPr>
          <p:cNvPr id="70" name="Shape 23">
            <a:extLst>
              <a:ext uri="{FF2B5EF4-FFF2-40B4-BE49-F238E27FC236}">
                <a16:creationId xmlns:a16="http://schemas.microsoft.com/office/drawing/2014/main" id="{A452CB18-2317-D86B-7305-BFBD62E67B97}"/>
              </a:ext>
            </a:extLst>
          </p:cNvPr>
          <p:cNvSpPr/>
          <p:nvPr/>
        </p:nvSpPr>
        <p:spPr>
          <a:xfrm>
            <a:off x="13220339" y="5638800"/>
            <a:ext cx="3581400" cy="1485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7F9E2F7E-6D68-AD24-A6BB-AC1934252E87}"/>
              </a:ext>
            </a:extLst>
          </p:cNvPr>
          <p:cNvSpPr/>
          <p:nvPr/>
        </p:nvSpPr>
        <p:spPr>
          <a:xfrm>
            <a:off x="13770429" y="5649505"/>
            <a:ext cx="3069771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Embed</a:t>
            </a:r>
            <a:endParaRPr lang="en-US" sz="2400" b="1" dirty="0">
              <a:solidFill>
                <a:srgbClr val="A61146"/>
              </a:solidFill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8B6100D1-ED42-0E27-680A-1674DCC83C01}"/>
              </a:ext>
            </a:extLst>
          </p:cNvPr>
          <p:cNvSpPr/>
          <p:nvPr/>
        </p:nvSpPr>
        <p:spPr>
          <a:xfrm>
            <a:off x="13770429" y="6060986"/>
            <a:ext cx="306977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611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public &amp; read-only</a:t>
            </a:r>
            <a:endParaRPr lang="en-US" b="1" dirty="0">
              <a:solidFill>
                <a:srgbClr val="A6114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CABD7AB-58F0-5915-A095-5B0196F17A03}"/>
              </a:ext>
            </a:extLst>
          </p:cNvPr>
          <p:cNvSpPr/>
          <p:nvPr/>
        </p:nvSpPr>
        <p:spPr>
          <a:xfrm>
            <a:off x="1905000" y="8458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INTEGRATION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9A00E15-18C3-F1E1-6EF6-BDC3D9062FD9}"/>
              </a:ext>
            </a:extLst>
          </p:cNvPr>
          <p:cNvSpPr/>
          <p:nvPr/>
        </p:nvSpPr>
        <p:spPr>
          <a:xfrm>
            <a:off x="3825240" y="1637459"/>
            <a:ext cx="9281160" cy="116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How We Reach </a:t>
            </a:r>
            <a:r>
              <a:rPr lang="en-US" sz="60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Customers</a:t>
            </a:r>
            <a:endParaRPr lang="en-US" sz="6000" b="1" dirty="0" smtClean="0">
              <a:solidFill>
                <a:srgbClr val="16261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E53D5A7-AA95-4330-3BF3-0727B00D8F91}"/>
              </a:ext>
            </a:extLst>
          </p:cNvPr>
          <p:cNvSpPr/>
          <p:nvPr/>
        </p:nvSpPr>
        <p:spPr>
          <a:xfrm>
            <a:off x="2133600" y="2308860"/>
            <a:ext cx="91440" cy="91440"/>
          </a:xfrm>
          <a:prstGeom prst="line">
            <a:avLst/>
          </a:prstGeom>
          <a:solidFill>
            <a:srgbClr val="C7CDC5"/>
          </a:solidFill>
          <a:ln/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AC5984A4-0900-329D-EA24-1B38916B6E75}"/>
              </a:ext>
            </a:extLst>
          </p:cNvPr>
          <p:cNvSpPr/>
          <p:nvPr/>
        </p:nvSpPr>
        <p:spPr>
          <a:xfrm>
            <a:off x="2362200" y="2308860"/>
            <a:ext cx="91440" cy="91440"/>
          </a:xfrm>
          <a:prstGeom prst="line">
            <a:avLst/>
          </a:prstGeom>
          <a:solidFill>
            <a:srgbClr val="C7CDC5"/>
          </a:solidFill>
          <a:ln/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7CA09CB7-69AB-D9B3-4B9C-11772712B4B6}"/>
              </a:ext>
            </a:extLst>
          </p:cNvPr>
          <p:cNvSpPr/>
          <p:nvPr/>
        </p:nvSpPr>
        <p:spPr>
          <a:xfrm>
            <a:off x="2590800" y="2308860"/>
            <a:ext cx="91440" cy="91440"/>
          </a:xfrm>
          <a:prstGeom prst="line">
            <a:avLst/>
          </a:prstGeom>
          <a:solidFill>
            <a:srgbClr val="C7CDC5"/>
          </a:solidFill>
          <a:ln/>
        </p:spPr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056EFF7-456C-BB34-3231-31CCCA9B13DD}"/>
              </a:ext>
            </a:extLst>
          </p:cNvPr>
          <p:cNvSpPr/>
          <p:nvPr/>
        </p:nvSpPr>
        <p:spPr>
          <a:xfrm>
            <a:off x="1066800" y="3128210"/>
            <a:ext cx="14859000" cy="6240997"/>
          </a:xfrm>
          <a:prstGeom prst="rect">
            <a:avLst/>
          </a:prstGeom>
          <a:solidFill>
            <a:srgbClr val="0BB6BC"/>
          </a:solidFill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342900" indent="-342900">
              <a:buAutoNum type="arabicPeriod"/>
            </a:pPr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LinkedIn &amp; Professional Networks- Targeting M&amp;E professionals, NGO directors and development – sector technology leaders.</a:t>
            </a:r>
          </a:p>
          <a:p>
            <a:endParaRPr lang="en-US" sz="2800" b="1" dirty="0" smtClean="0">
              <a:solidFill>
                <a:srgbClr val="16261F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2. Case-study Marketing with measurable outcomes e.g. 43.5 officer Hours Reclaimed every week, 2-3 week reporting lag reduced toward near real time visibility.</a:t>
            </a:r>
          </a:p>
          <a:p>
            <a:endParaRPr lang="en-US" sz="2800" b="1" dirty="0" smtClean="0">
              <a:solidFill>
                <a:srgbClr val="16261F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3. Donor Ecosystem for funding deployment for their implementing partners.</a:t>
            </a:r>
          </a:p>
          <a:p>
            <a:pPr marL="342900" indent="-342900">
              <a:buAutoNum type="arabicPeriod"/>
            </a:pPr>
            <a:endParaRPr lang="en-US" sz="1700" b="1" dirty="0" smtClean="0">
              <a:solidFill>
                <a:srgbClr val="16261F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17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4. </a:t>
            </a:r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</a:rPr>
              <a:t>Demonstration led selling for a given existing reporting process instead of selling the software</a:t>
            </a:r>
          </a:p>
          <a:p>
            <a:pPr marL="0" indent="0">
              <a:buNone/>
            </a:pPr>
            <a:endParaRPr lang="en-US" sz="1700" b="1" dirty="0" smtClean="0">
              <a:solidFill>
                <a:srgbClr val="16261F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4B3010B-D713-FE11-2516-E53A1643D325}"/>
              </a:ext>
            </a:extLst>
          </p:cNvPr>
          <p:cNvSpPr/>
          <p:nvPr/>
        </p:nvSpPr>
        <p:spPr>
          <a:xfrm>
            <a:off x="2316480" y="33787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EB301E2-8DDE-BD4A-B23A-4B57F37AFFFC}"/>
              </a:ext>
            </a:extLst>
          </p:cNvPr>
          <p:cNvSpPr/>
          <p:nvPr/>
        </p:nvSpPr>
        <p:spPr>
          <a:xfrm>
            <a:off x="3825240" y="33787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7B7B0BFB-9532-28CA-5230-A51DE180FF2A}"/>
              </a:ext>
            </a:extLst>
          </p:cNvPr>
          <p:cNvSpPr/>
          <p:nvPr/>
        </p:nvSpPr>
        <p:spPr>
          <a:xfrm>
            <a:off x="2245093" y="4209128"/>
            <a:ext cx="10043160" cy="711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AE62E949-29BF-9B98-E1B7-5EF081AD55AB}"/>
              </a:ext>
            </a:extLst>
          </p:cNvPr>
          <p:cNvSpPr/>
          <p:nvPr/>
        </p:nvSpPr>
        <p:spPr>
          <a:xfrm>
            <a:off x="2225040" y="49606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BADF7973-D088-5E13-1A23-F31EF0A8B6F2}"/>
              </a:ext>
            </a:extLst>
          </p:cNvPr>
          <p:cNvSpPr/>
          <p:nvPr/>
        </p:nvSpPr>
        <p:spPr>
          <a:xfrm>
            <a:off x="1636294" y="6415677"/>
            <a:ext cx="6532345" cy="971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6267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773249" y="2463533"/>
            <a:ext cx="4580551" cy="4870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Program officers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M&amp;E Teams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Foundation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Leadership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Board Members</a:t>
            </a:r>
          </a:p>
          <a:p>
            <a:pPr marL="571500" lvl="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u="none" dirty="0">
              <a:solidFill>
                <a:srgbClr val="000000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164625" y="1387089"/>
            <a:ext cx="3657600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4800" b="1" u="none" dirty="0">
                <a:solidFill>
                  <a:srgbClr val="A61146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External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4625" y="2643371"/>
            <a:ext cx="4201641" cy="4039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Donors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Partners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Website Visitors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rPr>
              <a:t>Stakeholders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000000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2" y="4493818"/>
            <a:ext cx="4249772" cy="2479033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2" y="7932974"/>
            <a:ext cx="4249772" cy="134576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52" y="1930507"/>
            <a:ext cx="4249772" cy="191905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8682" y="0"/>
            <a:ext cx="908275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Target Market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7FE1DF0-E59F-FBC4-21CA-FE75AC8A57C3}"/>
              </a:ext>
            </a:extLst>
          </p:cNvPr>
          <p:cNvSpPr txBox="1"/>
          <p:nvPr/>
        </p:nvSpPr>
        <p:spPr>
          <a:xfrm>
            <a:off x="6773249" y="1387089"/>
            <a:ext cx="3657600" cy="1086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4800" b="1" u="none" dirty="0">
                <a:solidFill>
                  <a:srgbClr val="A61146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Internal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024BD0-1EEC-6AED-CBCB-8D95D7B95B2E}"/>
              </a:ext>
            </a:extLst>
          </p:cNvPr>
          <p:cNvSpPr txBox="1"/>
          <p:nvPr/>
        </p:nvSpPr>
        <p:spPr>
          <a:xfrm>
            <a:off x="6811349" y="7167743"/>
            <a:ext cx="10650167" cy="1849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571500" indent="-571500">
              <a:lnSpc>
                <a:spcPct val="150000"/>
              </a:lnSpc>
              <a:buFont typeface="Arial" panose="020B0604020202020204" pitchFamily="34" charset="0"/>
              <a:buChar char="•"/>
              <a:defRPr sz="3600" b="1">
                <a:solidFill>
                  <a:srgbClr val="000000"/>
                </a:solidFill>
                <a:latin typeface="Barlow Medium"/>
                <a:ea typeface="Barlow Medium"/>
                <a:cs typeface="Barlow Medium"/>
              </a:defRPr>
            </a:lvl1pPr>
          </a:lstStyle>
          <a:p>
            <a:r>
              <a:rPr lang="en-US" sz="2800" dirty="0">
                <a:solidFill>
                  <a:srgbClr val="A61146"/>
                </a:solidFill>
              </a:rPr>
              <a:t>12 officers currently involved in reporting processes.</a:t>
            </a:r>
          </a:p>
          <a:p>
            <a:r>
              <a:rPr lang="en-US" sz="2800" dirty="0">
                <a:solidFill>
                  <a:srgbClr val="A61146"/>
                </a:solidFill>
              </a:rPr>
              <a:t>4 program pillars integrated.</a:t>
            </a:r>
          </a:p>
          <a:p>
            <a:r>
              <a:rPr lang="en-US" sz="2800" dirty="0">
                <a:solidFill>
                  <a:srgbClr val="A61146"/>
                </a:solidFill>
              </a:rPr>
              <a:t>1 unified source of truth.</a:t>
            </a:r>
            <a:endParaRPr lang="en-KE" sz="2800" dirty="0">
              <a:solidFill>
                <a:srgbClr val="A6114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1444442"/>
            <a:ext cx="7076120" cy="674705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622869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Market Size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640413"/>
              </p:ext>
            </p:extLst>
          </p:nvPr>
        </p:nvGraphicFramePr>
        <p:xfrm>
          <a:off x="304800" y="2400298"/>
          <a:ext cx="10744200" cy="6499862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148296499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21831211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30937472"/>
                    </a:ext>
                  </a:extLst>
                </a:gridCol>
              </a:tblGrid>
              <a:tr h="990602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Market Level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Basis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Estimated </a:t>
                      </a:r>
                      <a:r>
                        <a:rPr lang="en-US" sz="2800" dirty="0" err="1" smtClean="0"/>
                        <a:t>Opportuity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026735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Kenya addressable universe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9,6o9 active PBOs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9.609 Organizations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960376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SAM for an estimated</a:t>
                      </a:r>
                    </a:p>
                    <a:p>
                      <a:r>
                        <a:rPr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Serviceable market rather than claiming</a:t>
                      </a:r>
                      <a:r>
                        <a:rPr lang="en-US" sz="2400" b="1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every PBO needs this product.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Assume 15% have sufficiently complex multi-program M&amp;E needs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1440 organizations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408735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Initial SOM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Capture 100</a:t>
                      </a:r>
                      <a:r>
                        <a:rPr lang="en-US" sz="2400" baseline="0" dirty="0" smtClean="0"/>
                        <a:t> organizations over 3-5 years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100 customers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782576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Illustrative annual contract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KES 180,000 average/year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KES 18M AT</a:t>
                      </a:r>
                      <a:r>
                        <a:rPr lang="en-US" sz="2400" baseline="0" dirty="0" smtClean="0"/>
                        <a:t> 100 Customers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3383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Core SAM revenue potential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1440 x KES 180,000/year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sz="2400" dirty="0" smtClean="0"/>
                        <a:t>KES 295M/year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7471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556354"/>
              </p:ext>
            </p:extLst>
          </p:nvPr>
        </p:nvGraphicFramePr>
        <p:xfrm>
          <a:off x="304800" y="9305138"/>
          <a:ext cx="17602200" cy="94488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7602200">
                  <a:extLst>
                    <a:ext uri="{9D8B030D-6E8A-4147-A177-3AD203B41FA5}">
                      <a16:colId xmlns:a16="http://schemas.microsoft.com/office/drawing/2014/main" val="1290247664"/>
                    </a:ext>
                  </a:extLst>
                </a:gridCol>
              </a:tblGrid>
              <a:tr h="937194">
                <a:tc>
                  <a:txBody>
                    <a:bodyPr/>
                    <a:lstStyle/>
                    <a:p>
                      <a:r>
                        <a:rPr lang="en-US" sz="2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Our wedge is not "convince NGOs to use data." It is:</a:t>
                      </a:r>
                    </a:p>
                    <a:p>
                      <a:r>
                        <a:rPr lang="en-US" sz="2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Move organizations from disconnected M&amp;E tools and delayed reporting to one real-time intelligence layer.</a:t>
                      </a:r>
                      <a:endParaRPr lang="en-US" sz="2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92576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8" name="Freeform 8"/>
          <p:cNvSpPr/>
          <p:nvPr/>
        </p:nvSpPr>
        <p:spPr>
          <a:xfrm>
            <a:off x="19050" y="73956"/>
            <a:ext cx="6812379" cy="8998522"/>
          </a:xfrm>
          <a:custGeom>
            <a:avLst/>
            <a:gdLst/>
            <a:ahLst/>
            <a:cxnLst/>
            <a:rect l="l" t="t" r="r" b="b"/>
            <a:pathLst>
              <a:path w="6438900" h="8505190">
                <a:moveTo>
                  <a:pt x="4916170" y="8505190"/>
                </a:moveTo>
                <a:lnTo>
                  <a:pt x="4627880" y="8505190"/>
                </a:lnTo>
                <a:lnTo>
                  <a:pt x="0" y="8072120"/>
                </a:lnTo>
                <a:lnTo>
                  <a:pt x="0" y="4405630"/>
                </a:lnTo>
                <a:lnTo>
                  <a:pt x="910590" y="0"/>
                </a:lnTo>
                <a:lnTo>
                  <a:pt x="6438900" y="0"/>
                </a:lnTo>
                <a:lnTo>
                  <a:pt x="6438900" y="671830"/>
                </a:lnTo>
                <a:lnTo>
                  <a:pt x="4916170" y="8505190"/>
                </a:lnTo>
                <a:close/>
              </a:path>
            </a:pathLst>
          </a:custGeom>
          <a:blipFill>
            <a:blip r:embed="rId2"/>
            <a:stretch>
              <a:fillRect l="-65869" r="-65869"/>
            </a:stretch>
          </a:blipFill>
        </p:spPr>
        <p:txBody>
          <a:bodyPr/>
          <a:lstStyle/>
          <a:p>
            <a:endParaRPr lang="en-KE" dirty="0"/>
          </a:p>
        </p:txBody>
      </p:sp>
      <p:sp>
        <p:nvSpPr>
          <p:cNvPr id="9" name="Freeform 9"/>
          <p:cNvSpPr/>
          <p:nvPr/>
        </p:nvSpPr>
        <p:spPr>
          <a:xfrm>
            <a:off x="19050" y="73956"/>
            <a:ext cx="6812379" cy="8998522"/>
          </a:xfrm>
          <a:custGeom>
            <a:avLst/>
            <a:gdLst/>
            <a:ahLst/>
            <a:cxnLst/>
            <a:rect l="l" t="t" r="r" b="b"/>
            <a:pathLst>
              <a:path w="6438900" h="8505190">
                <a:moveTo>
                  <a:pt x="910590" y="0"/>
                </a:moveTo>
                <a:lnTo>
                  <a:pt x="1898650" y="289560"/>
                </a:lnTo>
                <a:lnTo>
                  <a:pt x="0" y="4405630"/>
                </a:lnTo>
                <a:lnTo>
                  <a:pt x="910590" y="0"/>
                </a:lnTo>
                <a:close/>
                <a:moveTo>
                  <a:pt x="3253740" y="8047990"/>
                </a:moveTo>
                <a:lnTo>
                  <a:pt x="4916170" y="8505190"/>
                </a:lnTo>
                <a:lnTo>
                  <a:pt x="6438900" y="671830"/>
                </a:lnTo>
                <a:lnTo>
                  <a:pt x="3253740" y="8047990"/>
                </a:lnTo>
                <a:close/>
              </a:path>
            </a:pathLst>
          </a:custGeom>
          <a:solidFill>
            <a:srgbClr val="0BB6BC"/>
          </a:solidFill>
        </p:spPr>
      </p:sp>
      <p:sp>
        <p:nvSpPr>
          <p:cNvPr id="11" name="TextBox 11"/>
          <p:cNvSpPr txBox="1"/>
          <p:nvPr/>
        </p:nvSpPr>
        <p:spPr>
          <a:xfrm>
            <a:off x="8508761" y="257175"/>
            <a:ext cx="875053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Competitors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320A564-9D2B-200B-8F38-4B50499C1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54848"/>
              </p:ext>
            </p:extLst>
          </p:nvPr>
        </p:nvGraphicFramePr>
        <p:xfrm>
          <a:off x="7943241" y="1956074"/>
          <a:ext cx="9906002" cy="3653400"/>
        </p:xfrm>
        <a:graphic>
          <a:graphicData uri="http://schemas.openxmlformats.org/drawingml/2006/table">
            <a:tbl>
              <a:tblPr/>
              <a:tblGrid>
                <a:gridCol w="4953001">
                  <a:extLst>
                    <a:ext uri="{9D8B030D-6E8A-4147-A177-3AD203B41FA5}">
                      <a16:colId xmlns:a16="http://schemas.microsoft.com/office/drawing/2014/main" val="4031071422"/>
                    </a:ext>
                  </a:extLst>
                </a:gridCol>
                <a:gridCol w="4953001">
                  <a:extLst>
                    <a:ext uri="{9D8B030D-6E8A-4147-A177-3AD203B41FA5}">
                      <a16:colId xmlns:a16="http://schemas.microsoft.com/office/drawing/2014/main" val="1242784061"/>
                    </a:ext>
                  </a:extLst>
                </a:gridCol>
              </a:tblGrid>
              <a:tr h="73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rgbClr val="A61146"/>
                          </a:solidFill>
                          <a:effectLst/>
                        </a:rPr>
                        <a:t>Current Approach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rgbClr val="A61146"/>
                          </a:solidFill>
                          <a:effectLst/>
                        </a:rPr>
                        <a:t>Limitation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5733209"/>
                  </a:ext>
                </a:extLst>
              </a:tr>
              <a:tr h="73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chemeClr val="tx1"/>
                          </a:solidFill>
                          <a:effectLst/>
                        </a:rPr>
                        <a:t>Excel/Spreadsheets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chemeClr val="tx1"/>
                          </a:solidFill>
                          <a:effectLst/>
                        </a:rPr>
                        <a:t>Manual consolidation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029613"/>
                  </a:ext>
                </a:extLst>
              </a:tr>
              <a:tr h="73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>
                          <a:solidFill>
                            <a:schemeClr val="tx1"/>
                          </a:solidFill>
                          <a:effectLst/>
                        </a:rPr>
                        <a:t>Static Reports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chemeClr val="tx1"/>
                          </a:solidFill>
                          <a:effectLst/>
                        </a:rPr>
                        <a:t>Historical information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264105"/>
                  </a:ext>
                </a:extLst>
              </a:tr>
              <a:tr h="73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>
                          <a:solidFill>
                            <a:schemeClr val="tx1"/>
                          </a:solidFill>
                          <a:effectLst/>
                        </a:rPr>
                        <a:t>Siloed Program Systems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 dirty="0">
                          <a:solidFill>
                            <a:schemeClr val="tx1"/>
                          </a:solidFill>
                          <a:effectLst/>
                        </a:rPr>
                        <a:t>Duplicate beneficiaries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736145"/>
                  </a:ext>
                </a:extLst>
              </a:tr>
              <a:tr h="73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2000" b="1">
                          <a:solidFill>
                            <a:schemeClr val="tx1"/>
                          </a:solidFill>
                          <a:effectLst/>
                        </a:rPr>
                        <a:t>Traditional Dashboards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KE" sz="2000" b="1" dirty="0">
                          <a:solidFill>
                            <a:schemeClr val="tx1"/>
                          </a:solidFill>
                          <a:effectLst/>
                        </a:rPr>
                        <a:t>Often lack unified identity management</a:t>
                      </a:r>
                      <a:endParaRPr lang="en-KE" sz="1100" b="1" i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37399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920BE8A-2F91-A199-0E74-BD2ADC9613E3}"/>
              </a:ext>
            </a:extLst>
          </p:cNvPr>
          <p:cNvSpPr txBox="1"/>
          <p:nvPr/>
        </p:nvSpPr>
        <p:spPr>
          <a:xfrm>
            <a:off x="6400800" y="7195078"/>
            <a:ext cx="101838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Inuka Pulse: Provides real-time, unified, cross-pillar visibility</a:t>
            </a:r>
            <a:endParaRPr lang="en-KE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05725" y="1028700"/>
            <a:ext cx="13944632" cy="3200815"/>
            <a:chOff x="0" y="0"/>
            <a:chExt cx="18592843" cy="4267751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8592843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dirty="0">
                  <a:solidFill>
                    <a:srgbClr val="0BB6BC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Competitive Advantage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39935"/>
              <a:ext cx="16429858" cy="2327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US" sz="3199" b="1" dirty="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What makes you unique</a:t>
              </a:r>
              <a:r>
                <a:rPr lang="en-US" sz="2400" b="1" dirty="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? </a:t>
              </a:r>
              <a:r>
                <a:rPr lang="en-US" sz="2400" b="1" dirty="0" smtClean="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                                                                                                                      </a:t>
              </a:r>
              <a:endParaRPr lang="en-US" sz="2400" dirty="0"/>
            </a:p>
            <a:p>
              <a:r>
                <a:rPr lang="en-US" sz="2400" b="1" dirty="0"/>
                <a:t>Data sources → Identity Resolution → Automation → AI M&amp;E Assistant → Executive Dashboard → Public Website</a:t>
              </a:r>
              <a:endParaRPr lang="en-US" sz="2400" dirty="0"/>
            </a:p>
            <a:p>
              <a:pPr algn="l">
                <a:lnSpc>
                  <a:spcPts val="4479"/>
                </a:lnSpc>
              </a:pPr>
              <a:endParaRPr lang="en-US" sz="3199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6" name="Freeform 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r="-174813"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69999-14CE-BA2D-ED1D-9CA587D59B9C}"/>
              </a:ext>
            </a:extLst>
          </p:cNvPr>
          <p:cNvSpPr txBox="1"/>
          <p:nvPr/>
        </p:nvSpPr>
        <p:spPr>
          <a:xfrm>
            <a:off x="3804634" y="3771900"/>
            <a:ext cx="1356896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What Makes Inuka Pulse Unique?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Unified Beneficiary ID Graph.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Event-driven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Real-time updates (22-second median freshness).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Website integration without rebuilding existing 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Public and admin views from the same data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Offline-first field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BB6BC"/>
                </a:solidFill>
              </a:rPr>
              <a:t>Built directly around Inuka's operational workflows.</a:t>
            </a:r>
            <a:endParaRPr lang="en-KE" sz="2800" b="1" dirty="0">
              <a:solidFill>
                <a:srgbClr val="0BB6BC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937779"/>
              </p:ext>
            </p:extLst>
          </p:nvPr>
        </p:nvGraphicFramePr>
        <p:xfrm>
          <a:off x="3080084" y="7435516"/>
          <a:ext cx="12007516" cy="2508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7516">
                  <a:extLst>
                    <a:ext uri="{9D8B030D-6E8A-4147-A177-3AD203B41FA5}">
                      <a16:colId xmlns:a16="http://schemas.microsoft.com/office/drawing/2014/main" val="2097224049"/>
                    </a:ext>
                  </a:extLst>
                </a:gridCol>
              </a:tblGrid>
              <a:tr h="2508584">
                <a:tc>
                  <a:txBody>
                    <a:bodyPr/>
                    <a:lstStyle/>
                    <a:p>
                      <a:r>
                        <a:rPr lang="en-US" sz="2800" dirty="0" smtClean="0">
                          <a:solidFill>
                            <a:srgbClr val="002060"/>
                          </a:solidFill>
                        </a:rPr>
                        <a:t>The strongest competitive argument is </a:t>
                      </a:r>
                      <a:r>
                        <a:rPr lang="en-US" sz="2800" b="1" dirty="0" smtClean="0">
                          <a:solidFill>
                            <a:srgbClr val="002060"/>
                          </a:solidFill>
                        </a:rPr>
                        <a:t>integration</a:t>
                      </a:r>
                      <a:r>
                        <a:rPr lang="en-US" sz="2800" dirty="0" smtClean="0">
                          <a:solidFill>
                            <a:srgbClr val="002060"/>
                          </a:solidFill>
                        </a:rPr>
                        <a:t>.</a:t>
                      </a:r>
                    </a:p>
                    <a:p>
                      <a:r>
                        <a:rPr lang="en-US" sz="2800" dirty="0" smtClean="0">
                          <a:solidFill>
                            <a:srgbClr val="002060"/>
                          </a:solidFill>
                        </a:rPr>
                        <a:t>Most solutions solve one part of the problem. </a:t>
                      </a:r>
                      <a:r>
                        <a:rPr lang="en-US" sz="2800" dirty="0" err="1" smtClean="0">
                          <a:solidFill>
                            <a:srgbClr val="002060"/>
                          </a:solidFill>
                        </a:rPr>
                        <a:t>Inuka</a:t>
                      </a:r>
                      <a:r>
                        <a:rPr lang="en-US" sz="2800" dirty="0" smtClean="0">
                          <a:solidFill>
                            <a:srgbClr val="002060"/>
                          </a:solidFill>
                        </a:rPr>
                        <a:t> Pulse connects:</a:t>
                      </a:r>
                    </a:p>
                    <a:p>
                      <a:r>
                        <a:rPr lang="en-US" sz="2800" b="1" dirty="0" smtClean="0">
                          <a:solidFill>
                            <a:srgbClr val="002060"/>
                          </a:solidFill>
                        </a:rPr>
                        <a:t>Data sources → Identity Resolution → Automation → AI M&amp;E Assistant → Executive Dashboard → Public Website</a:t>
                      </a:r>
                      <a:endParaRPr 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48507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03359" y="3971075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3" name="AutoShape 3"/>
          <p:cNvSpPr/>
          <p:nvPr/>
        </p:nvSpPr>
        <p:spPr>
          <a:xfrm>
            <a:off x="1703359" y="5158824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4" name="AutoShape 4"/>
          <p:cNvSpPr/>
          <p:nvPr/>
        </p:nvSpPr>
        <p:spPr>
          <a:xfrm>
            <a:off x="1703359" y="6346573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1703359" y="7534322"/>
            <a:ext cx="14881282" cy="602142"/>
          </a:xfrm>
          <a:prstGeom prst="rect">
            <a:avLst/>
          </a:prstGeom>
          <a:solidFill>
            <a:srgbClr val="90113E">
              <a:alpha val="1961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703359" y="3357575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03359" y="8136464"/>
            <a:ext cx="14881282" cy="0"/>
          </a:xfrm>
          <a:prstGeom prst="line">
            <a:avLst/>
          </a:prstGeom>
          <a:ln w="19050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8659450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AutoShape 9"/>
          <p:cNvSpPr/>
          <p:nvPr/>
        </p:nvSpPr>
        <p:spPr>
          <a:xfrm>
            <a:off x="6673531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0" name="TextBox 10"/>
          <p:cNvSpPr txBox="1"/>
          <p:nvPr/>
        </p:nvSpPr>
        <p:spPr>
          <a:xfrm>
            <a:off x="6913736" y="2694518"/>
            <a:ext cx="1524842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75969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645368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Box 13"/>
          <p:cNvSpPr txBox="1"/>
          <p:nvPr/>
        </p:nvSpPr>
        <p:spPr>
          <a:xfrm>
            <a:off x="11029376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3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2631287" y="2473365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AutoShape 15"/>
          <p:cNvSpPr/>
          <p:nvPr/>
        </p:nvSpPr>
        <p:spPr>
          <a:xfrm>
            <a:off x="14612169" y="2467083"/>
            <a:ext cx="1972472" cy="89402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Box 16"/>
          <p:cNvSpPr txBox="1"/>
          <p:nvPr/>
        </p:nvSpPr>
        <p:spPr>
          <a:xfrm>
            <a:off x="12982784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36191" y="2694518"/>
            <a:ext cx="1316017" cy="391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Month 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68802" y="2696086"/>
            <a:ext cx="437069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Tasks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7743" y="3419744"/>
            <a:ext cx="4441750" cy="35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220"/>
              </a:lnSpc>
              <a:spcBef>
                <a:spcPct val="0"/>
              </a:spcBef>
            </a:pPr>
            <a:r>
              <a:rPr lang="en-US" sz="20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Built four operational ETL pipelines.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7743" y="4022985"/>
            <a:ext cx="4915993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0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Cleaned and validated data from all pillars.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97742" y="4626227"/>
            <a:ext cx="5317457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Real-time streaming architecture.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97743" y="5229466"/>
            <a:ext cx="4441750" cy="36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Identity resolution service.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7743" y="5832707"/>
            <a:ext cx="4441750" cy="36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Public website widget.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997743" y="6435948"/>
            <a:ext cx="4441750" cy="36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Administrative dashboard.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97742" y="7039189"/>
            <a:ext cx="5469857" cy="366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Offline synchronization capabilities.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7743" y="7642429"/>
            <a:ext cx="4441750" cy="366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220"/>
              </a:lnSpc>
              <a:spcBef>
                <a:spcPct val="0"/>
              </a:spcBef>
            </a:pPr>
            <a:r>
              <a:rPr lang="en-US" sz="2300" u="none" dirty="0">
                <a:solidFill>
                  <a:srgbClr val="90113E"/>
                </a:solidFill>
                <a:latin typeface="Barlow"/>
                <a:ea typeface="Barlow"/>
                <a:cs typeface="Barlow"/>
                <a:sym typeface="Barlow"/>
              </a:rPr>
              <a:t>Validation</a:t>
            </a:r>
          </a:p>
        </p:txBody>
      </p:sp>
      <p:sp>
        <p:nvSpPr>
          <p:cNvPr id="27" name="AutoShape 27"/>
          <p:cNvSpPr/>
          <p:nvPr/>
        </p:nvSpPr>
        <p:spPr>
          <a:xfrm>
            <a:off x="6673184" y="3424302"/>
            <a:ext cx="1972820" cy="0"/>
          </a:xfrm>
          <a:prstGeom prst="line">
            <a:avLst/>
          </a:prstGeom>
          <a:ln w="485775" cap="flat">
            <a:solidFill>
              <a:srgbClr val="9011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7659594" y="4027543"/>
            <a:ext cx="2972328" cy="0"/>
          </a:xfrm>
          <a:prstGeom prst="line">
            <a:avLst/>
          </a:prstGeom>
          <a:ln w="485775" cap="flat">
            <a:solidFill>
              <a:srgbClr val="0BB6B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7659594" y="4603308"/>
            <a:ext cx="2012985" cy="0"/>
          </a:xfrm>
          <a:prstGeom prst="line">
            <a:avLst/>
          </a:prstGeom>
          <a:ln w="485775" cap="flat">
            <a:solidFill>
              <a:srgbClr val="FF66C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2631287" y="6402324"/>
            <a:ext cx="2962913" cy="0"/>
          </a:xfrm>
          <a:prstGeom prst="line">
            <a:avLst/>
          </a:prstGeom>
          <a:ln w="485775" cap="flat">
            <a:solidFill>
              <a:srgbClr val="0831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14603759" y="6996645"/>
            <a:ext cx="1980882" cy="0"/>
          </a:xfrm>
          <a:prstGeom prst="line">
            <a:avLst/>
          </a:prstGeom>
          <a:ln w="485775" cap="flat">
            <a:solidFill>
              <a:srgbClr val="CF6E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15598405" y="7590073"/>
            <a:ext cx="986236" cy="0"/>
          </a:xfrm>
          <a:prstGeom prst="line">
            <a:avLst/>
          </a:prstGeom>
          <a:ln w="485775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>
            <a:off x="10645368" y="5214576"/>
            <a:ext cx="3966801" cy="0"/>
          </a:xfrm>
          <a:prstGeom prst="line">
            <a:avLst/>
          </a:prstGeom>
          <a:ln w="485775" cap="flat">
            <a:solidFill>
              <a:srgbClr val="FFDE5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34"/>
          <p:cNvSpPr/>
          <p:nvPr/>
        </p:nvSpPr>
        <p:spPr>
          <a:xfrm>
            <a:off x="9672578" y="5809789"/>
            <a:ext cx="3944944" cy="0"/>
          </a:xfrm>
          <a:prstGeom prst="line">
            <a:avLst/>
          </a:prstGeom>
          <a:ln w="48577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35"/>
          <p:cNvSpPr txBox="1"/>
          <p:nvPr/>
        </p:nvSpPr>
        <p:spPr>
          <a:xfrm>
            <a:off x="1703359" y="343008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Project Traction</a:t>
            </a:r>
          </a:p>
        </p:txBody>
      </p:sp>
      <p:sp>
        <p:nvSpPr>
          <p:cNvPr id="36" name="AutoShape 36"/>
          <p:cNvSpPr/>
          <p:nvPr/>
        </p:nvSpPr>
        <p:spPr>
          <a:xfrm>
            <a:off x="-602092" y="8998522"/>
            <a:ext cx="18890092" cy="258587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7" name="TextBox 37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90548" y="845620"/>
            <a:ext cx="9524999" cy="9432469"/>
            <a:chOff x="0" y="0"/>
            <a:chExt cx="12454930" cy="13716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454930" cy="13716000"/>
            </a:xfrm>
            <a:prstGeom prst="rect">
              <a:avLst/>
            </a:prstGeom>
            <a:solidFill>
              <a:srgbClr val="0BB6BC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028700" y="404813"/>
            <a:ext cx="14733814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19"/>
              </a:lnSpc>
            </a:pPr>
            <a:r>
              <a:rPr lang="en-US" sz="8099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Business Model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65553" y="845620"/>
            <a:ext cx="9422447" cy="7478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solidFill>
                  <a:srgbClr val="A61146"/>
                </a:solidFill>
              </a:rPr>
              <a:t>Immediate Value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Reduced reporting effort.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Improved data quality.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Better donor transparency.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Faster decision making.</a:t>
            </a:r>
          </a:p>
          <a:p>
            <a:r>
              <a:rPr lang="en-US" sz="5400" b="1" dirty="0">
                <a:solidFill>
                  <a:srgbClr val="A61146"/>
                </a:solidFill>
              </a:rPr>
              <a:t>Future Monetization Potential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NGO Dashboard SaaS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Foundation Analytics Platform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5400" dirty="0"/>
              <a:t>M&amp;E-as-a-Service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68625"/>
              </p:ext>
            </p:extLst>
          </p:nvPr>
        </p:nvGraphicFramePr>
        <p:xfrm>
          <a:off x="152400" y="1643063"/>
          <a:ext cx="8438148" cy="8643937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8438148">
                  <a:extLst>
                    <a:ext uri="{9D8B030D-6E8A-4147-A177-3AD203B41FA5}">
                      <a16:colId xmlns:a16="http://schemas.microsoft.com/office/drawing/2014/main" val="3104875478"/>
                    </a:ext>
                  </a:extLst>
                </a:gridCol>
              </a:tblGrid>
              <a:tr h="8643937"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effectLst/>
                        </a:rPr>
                        <a:t>—</a:t>
                      </a:r>
                      <a:r>
                        <a:rPr lang="en-US" sz="2800" kern="1200" dirty="0" smtClean="0">
                          <a:effectLst/>
                        </a:rPr>
                        <a:t> </a:t>
                      </a:r>
                      <a:r>
                        <a:rPr lang="en-US" sz="4000" kern="1200" dirty="0" smtClean="0">
                          <a:effectLst/>
                        </a:rPr>
                        <a:t>Enterprise</a:t>
                      </a:r>
                    </a:p>
                    <a:p>
                      <a:r>
                        <a:rPr lang="en-US" sz="2800" kern="1200" dirty="0" smtClean="0">
                          <a:effectLst/>
                        </a:rPr>
                        <a:t>KES 500,000–1.2M+/year</a:t>
                      </a:r>
                    </a:p>
                    <a:p>
                      <a:r>
                        <a:rPr lang="en-US" sz="2800" kern="1200" dirty="0" smtClean="0">
                          <a:effectLst/>
                        </a:rPr>
                        <a:t>For large NGOs/development agencies: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Multiple programs/countries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Custom integrations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Advanced permissions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Dedicated support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Custom donor reporting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Advanced analytics/API access</a:t>
                      </a:r>
                    </a:p>
                    <a:p>
                      <a:r>
                        <a:rPr lang="en-US" sz="4000" kern="1200" dirty="0" smtClean="0">
                          <a:effectLst/>
                        </a:rPr>
                        <a:t>Additional revenue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Initial implementation: KES 100,000–500,000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Data integration fees.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Custom dashboards.</a:t>
                      </a: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Training.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 dirty="0" smtClean="0">
                          <a:effectLst/>
                        </a:rPr>
                        <a:t>Premium support.</a:t>
                      </a:r>
                    </a:p>
                    <a:p>
                      <a:pPr lvl="0"/>
                      <a:endParaRPr lang="en-US" sz="2800" kern="1200" dirty="0" smtClean="0">
                        <a:effectLst/>
                      </a:endParaRPr>
                    </a:p>
                    <a:p>
                      <a:pPr lvl="0"/>
                      <a:r>
                        <a:rPr lang="en-US" sz="2800" kern="1200" dirty="0" smtClean="0">
                          <a:effectLst/>
                        </a:rPr>
                        <a:t>I</a:t>
                      </a:r>
                      <a:r>
                        <a:rPr lang="en-US" sz="2800" kern="1200" baseline="0" dirty="0" smtClean="0">
                          <a:effectLst/>
                        </a:rPr>
                        <a:t> recommend a B2B SaaS + implementation model.</a:t>
                      </a:r>
                      <a:endParaRPr lang="en-US" sz="28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A611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14709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r="-17481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382668" y="667172"/>
            <a:ext cx="13944632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Go To Market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DA620691-0393-459A-42C5-070BBF544B4B}"/>
              </a:ext>
            </a:extLst>
          </p:cNvPr>
          <p:cNvSpPr/>
          <p:nvPr/>
        </p:nvSpPr>
        <p:spPr>
          <a:xfrm>
            <a:off x="3124200" y="1822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86553E8-A01D-7219-43E1-B6EA52F5B24A}"/>
              </a:ext>
            </a:extLst>
          </p:cNvPr>
          <p:cNvSpPr/>
          <p:nvPr/>
        </p:nvSpPr>
        <p:spPr>
          <a:xfrm>
            <a:off x="3078480" y="2178779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Prototype already has live check-ins, offline synchronization, AI-based M&amp;E Queries, and website consistency</a:t>
            </a:r>
            <a:r>
              <a:rPr lang="en-US" sz="2800" b="1" dirty="0" smtClean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42C6DD99-F383-EC11-A727-CC2797437C88}"/>
              </a:ext>
            </a:extLst>
          </p:cNvPr>
          <p:cNvSpPr/>
          <p:nvPr/>
        </p:nvSpPr>
        <p:spPr>
          <a:xfrm flipV="1">
            <a:off x="2260193" y="3300664"/>
            <a:ext cx="6411893" cy="6643431"/>
          </a:xfrm>
          <a:prstGeom prst="roundRect">
            <a:avLst>
              <a:gd name="adj" fmla="val 2174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DCE94FA-345B-1CD9-1321-60735A09309C}"/>
              </a:ext>
            </a:extLst>
          </p:cNvPr>
          <p:cNvSpPr/>
          <p:nvPr/>
        </p:nvSpPr>
        <p:spPr>
          <a:xfrm>
            <a:off x="1874243" y="-160881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NOW</a:t>
            </a:r>
            <a:endParaRPr lang="en-US" sz="13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BBC150B8-0FB9-5281-3FE2-CCA518B9E254}"/>
              </a:ext>
            </a:extLst>
          </p:cNvPr>
          <p:cNvSpPr/>
          <p:nvPr/>
        </p:nvSpPr>
        <p:spPr>
          <a:xfrm>
            <a:off x="2450957" y="4703200"/>
            <a:ext cx="58396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2400" dirty="0" err="1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Inuka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Foundation as the design Partne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and Validate the usability of our product</a:t>
            </a:r>
            <a:r>
              <a:rPr lang="en-US" sz="13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49BC4AB-443D-74A3-D4B2-96A81FAA9DA3}"/>
              </a:ext>
            </a:extLst>
          </p:cNvPr>
          <p:cNvSpPr/>
          <p:nvPr/>
        </p:nvSpPr>
        <p:spPr>
          <a:xfrm>
            <a:off x="2382668" y="8386878"/>
            <a:ext cx="58469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opt for organizations with similar pain points and present our solution</a:t>
            </a:r>
            <a:endParaRPr lang="en-US" sz="24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34CF2CDB-19F9-74C3-F97A-6DEA85F22648}"/>
              </a:ext>
            </a:extLst>
          </p:cNvPr>
          <p:cNvSpPr/>
          <p:nvPr/>
        </p:nvSpPr>
        <p:spPr>
          <a:xfrm>
            <a:off x="2450957" y="6257680"/>
            <a:ext cx="58396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Similar Organizations and Partner with them showcasing our synchronized Product</a:t>
            </a:r>
            <a:endParaRPr lang="en-US" sz="2400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26DCD69C-A03F-978B-9D60-42069BC68D19}"/>
              </a:ext>
            </a:extLst>
          </p:cNvPr>
          <p:cNvSpPr/>
          <p:nvPr/>
        </p:nvSpPr>
        <p:spPr>
          <a:xfrm flipV="1">
            <a:off x="8404322" y="3300664"/>
            <a:ext cx="5921278" cy="6599827"/>
          </a:xfrm>
          <a:prstGeom prst="roundRect">
            <a:avLst>
              <a:gd name="adj" fmla="val 2174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FD9ADBAE-4C92-8F94-663D-F8223F115DA6}"/>
              </a:ext>
            </a:extLst>
          </p:cNvPr>
          <p:cNvSpPr/>
          <p:nvPr/>
        </p:nvSpPr>
        <p:spPr>
          <a:xfrm>
            <a:off x="9113520" y="39259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dashboard with real company dataset to show its unique solution.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95F6DC67-D9AA-1F7F-0C1F-5E9802BE4361}"/>
              </a:ext>
            </a:extLst>
          </p:cNvPr>
          <p:cNvSpPr/>
          <p:nvPr/>
        </p:nvSpPr>
        <p:spPr>
          <a:xfrm>
            <a:off x="9113520" y="47032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networks, and Youth development Programs</a:t>
            </a:r>
            <a:endParaRPr lang="en-US" sz="24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AF93246-AB8E-F8A0-5EC0-5C11F60C34AB}"/>
              </a:ext>
            </a:extLst>
          </p:cNvPr>
          <p:cNvSpPr/>
          <p:nvPr/>
        </p:nvSpPr>
        <p:spPr>
          <a:xfrm>
            <a:off x="9113520" y="5480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Validate cost-avoidance figures with M&amp;E lead</a:t>
            </a:r>
            <a:endParaRPr lang="en-US" sz="24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DCECFA1F-94B2-89CD-F450-B49540167568}"/>
              </a:ext>
            </a:extLst>
          </p:cNvPr>
          <p:cNvSpPr/>
          <p:nvPr/>
        </p:nvSpPr>
        <p:spPr>
          <a:xfrm>
            <a:off x="9113520" y="6257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r>
              <a:rPr lang="en-US" sz="2400" dirty="0" smtClean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UAT with Program officers and M&amp;E8 staff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3" name="Freeform 3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 r="-17481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76484" y="38100"/>
            <a:ext cx="13944632" cy="124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</a:pPr>
            <a:r>
              <a:rPr lang="en-US" sz="8100" b="1" dirty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Social </a:t>
            </a:r>
            <a:r>
              <a:rPr lang="en-US" sz="8100" b="1" dirty="0" smtClean="0">
                <a:solidFill>
                  <a:srgbClr val="0BB6BC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Impact &amp; SDGs</a:t>
            </a:r>
            <a:endParaRPr lang="en-US" sz="8100" b="1" dirty="0">
              <a:solidFill>
                <a:srgbClr val="0BB6BC"/>
              </a:solidFill>
              <a:latin typeface="Barlow Semi-Bold"/>
              <a:ea typeface="Barlow Semi-Bold"/>
              <a:cs typeface="Barlow Semi-Bold"/>
              <a:sym typeface="Barlow Semi-Bold"/>
            </a:endParaRPr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98807462-9C95-3B8B-080B-1B298DF21757}"/>
              </a:ext>
            </a:extLst>
          </p:cNvPr>
          <p:cNvSpPr/>
          <p:nvPr/>
        </p:nvSpPr>
        <p:spPr>
          <a:xfrm>
            <a:off x="3962400" y="223647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IMPACT</a:t>
            </a:r>
            <a:endParaRPr lang="en-US" sz="12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A0C790C6-A897-D283-B4CA-D7216E9A08E2}"/>
              </a:ext>
            </a:extLst>
          </p:cNvPr>
          <p:cNvSpPr/>
          <p:nvPr/>
        </p:nvSpPr>
        <p:spPr>
          <a:xfrm>
            <a:off x="3962400" y="31013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43.5 officer-hours a week, back to the mission.</a:t>
            </a:r>
            <a:endParaRPr lang="en-US" sz="2800" dirty="0"/>
          </a:p>
        </p:txBody>
      </p:sp>
      <p:graphicFrame>
        <p:nvGraphicFramePr>
          <p:cNvPr id="37" name="Chart 0">
            <a:extLst>
              <a:ext uri="{FF2B5EF4-FFF2-40B4-BE49-F238E27FC236}">
                <a16:creationId xmlns:a16="http://schemas.microsoft.com/office/drawing/2014/main" id="{A71D2CDA-D6E8-66B9-78FD-44A73441DE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601029"/>
              </p:ext>
            </p:extLst>
          </p:nvPr>
        </p:nvGraphicFramePr>
        <p:xfrm>
          <a:off x="1934401" y="4061460"/>
          <a:ext cx="6295199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2">
            <a:extLst>
              <a:ext uri="{FF2B5EF4-FFF2-40B4-BE49-F238E27FC236}">
                <a16:creationId xmlns:a16="http://schemas.microsoft.com/office/drawing/2014/main" id="{19C3D349-6DBE-CC47-786A-12121B6CA786}"/>
              </a:ext>
            </a:extLst>
          </p:cNvPr>
          <p:cNvSpPr/>
          <p:nvPr/>
        </p:nvSpPr>
        <p:spPr>
          <a:xfrm>
            <a:off x="7391400" y="4339590"/>
            <a:ext cx="4800600" cy="100203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D04DC0FE-6582-0D29-A647-930415CDD621}"/>
              </a:ext>
            </a:extLst>
          </p:cNvPr>
          <p:cNvSpPr/>
          <p:nvPr/>
        </p:nvSpPr>
        <p:spPr>
          <a:xfrm>
            <a:off x="10134600" y="43174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1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600" dirty="0">
              <a:solidFill>
                <a:srgbClr val="A61146"/>
              </a:solidFill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C2DA58B-430E-B4E1-EFF7-E91A75EBD83B}"/>
              </a:ext>
            </a:extLst>
          </p:cNvPr>
          <p:cNvSpPr/>
          <p:nvPr/>
        </p:nvSpPr>
        <p:spPr>
          <a:xfrm>
            <a:off x="7391400" y="431749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quarterly donor &amp; board reporting effort</a:t>
            </a:r>
            <a:endParaRPr lang="en-US" dirty="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3D172059-9A77-E6F4-E59D-111E86D692E1}"/>
              </a:ext>
            </a:extLst>
          </p:cNvPr>
          <p:cNvSpPr/>
          <p:nvPr/>
        </p:nvSpPr>
        <p:spPr>
          <a:xfrm>
            <a:off x="7391400" y="5507175"/>
            <a:ext cx="4800600" cy="109431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3EE1D678-4CE0-7A42-C29B-3BBE76C75925}"/>
              </a:ext>
            </a:extLst>
          </p:cNvPr>
          <p:cNvSpPr/>
          <p:nvPr/>
        </p:nvSpPr>
        <p:spPr>
          <a:xfrm>
            <a:off x="9906000" y="57348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1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2600" dirty="0">
              <a:solidFill>
                <a:srgbClr val="A61146"/>
              </a:solidFill>
            </a:endParaRPr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64773F75-7431-B7D2-C11F-1306C3304453}"/>
              </a:ext>
            </a:extLst>
          </p:cNvPr>
          <p:cNvSpPr/>
          <p:nvPr/>
        </p:nvSpPr>
        <p:spPr>
          <a:xfrm>
            <a:off x="7391400" y="573481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 rate resolving beneficiaries across pillars</a:t>
            </a:r>
            <a:endParaRPr lang="en-US" dirty="0"/>
          </a:p>
        </p:txBody>
      </p:sp>
      <p:sp>
        <p:nvSpPr>
          <p:cNvPr id="51" name="Shape 8">
            <a:extLst>
              <a:ext uri="{FF2B5EF4-FFF2-40B4-BE49-F238E27FC236}">
                <a16:creationId xmlns:a16="http://schemas.microsoft.com/office/drawing/2014/main" id="{65F83AA9-5A08-B9DE-7849-FF9A422D81A1}"/>
              </a:ext>
            </a:extLst>
          </p:cNvPr>
          <p:cNvSpPr/>
          <p:nvPr/>
        </p:nvSpPr>
        <p:spPr>
          <a:xfrm>
            <a:off x="7397430" y="6981204"/>
            <a:ext cx="479457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  <a:effectLst>
            <a:outerShdw blurRad="635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F0DAF716-B9F3-C809-21DE-0C6CF5A60AAB}"/>
              </a:ext>
            </a:extLst>
          </p:cNvPr>
          <p:cNvSpPr/>
          <p:nvPr/>
        </p:nvSpPr>
        <p:spPr>
          <a:xfrm>
            <a:off x="10134600" y="71521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7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</a:t>
            </a:r>
            <a:r>
              <a:rPr lang="en-US" sz="2600" b="1" dirty="0">
                <a:solidFill>
                  <a:srgbClr val="A611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2.0M/yr</a:t>
            </a:r>
            <a:endParaRPr lang="en-US" sz="2600" dirty="0">
              <a:solidFill>
                <a:srgbClr val="A61146"/>
              </a:solidFill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F3015AB7-2AF7-BEC9-373B-A42E9FC2FD03}"/>
              </a:ext>
            </a:extLst>
          </p:cNvPr>
          <p:cNvSpPr/>
          <p:nvPr/>
        </p:nvSpPr>
        <p:spPr>
          <a:xfrm>
            <a:off x="7391400" y="715213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officer-time value redirected to program delivery</a:t>
            </a:r>
            <a:endParaRPr lang="en-US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37EE8C2D-B908-1C46-7720-8E068BC8CC14}"/>
              </a:ext>
            </a:extLst>
          </p:cNvPr>
          <p:cNvSpPr/>
          <p:nvPr/>
        </p:nvSpPr>
        <p:spPr>
          <a:xfrm>
            <a:off x="3962400" y="858774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hackathon estimates from Stage 1 volumes — see the Quantified Impact Memo for method and the Stage 3 validation plan</a:t>
            </a:r>
            <a:r>
              <a:rPr lang="en-US" sz="950" i="1" dirty="0">
                <a:solidFill>
                  <a:srgbClr val="9AA6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121080"/>
              </p:ext>
            </p:extLst>
          </p:nvPr>
        </p:nvGraphicFramePr>
        <p:xfrm>
          <a:off x="12192000" y="1282030"/>
          <a:ext cx="6096000" cy="7458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791379382"/>
                    </a:ext>
                  </a:extLst>
                </a:gridCol>
              </a:tblGrid>
              <a:tr h="7458696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 1</a:t>
                      </a:r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Quality Education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 scholarship retention and education outcomes.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Monitor vocational and digital-skills programs.</a:t>
                      </a:r>
                    </a:p>
                    <a:p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 2</a:t>
                      </a:r>
                      <a:r>
                        <a:rPr lang="en-US" sz="2400" b="1" kern="1200" baseline="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Decent Work &amp; Economic Growth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 TVET employment outcomes.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 digital-skills employment and freelancing.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 training outcomes with employer participation.</a:t>
                      </a:r>
                    </a:p>
                    <a:p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 3 — Industry, Innovation &amp; Infrastructure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Strengthens digital infrastructure for development organizations.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Promotes data-driven program management.</a:t>
                      </a:r>
                    </a:p>
                    <a:p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SDG 4 — Reduced Inequalities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better visibility into underserved communities.</a:t>
                      </a:r>
                    </a:p>
                    <a:p>
                      <a:pPr lvl="0"/>
                      <a:r>
                        <a:rPr lang="en-US" sz="24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organizations identify gaps in program reach.</a:t>
                      </a:r>
                      <a:endParaRPr lang="en-US" sz="24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8423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562100"/>
            <a:ext cx="15049500" cy="8239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71330" lvl="1" algn="l">
              <a:lnSpc>
                <a:spcPts val="6549"/>
              </a:lnSpc>
            </a:pPr>
            <a:r>
              <a:rPr lang="en-US" sz="4366" b="1" spc="21" dirty="0">
                <a:latin typeface="Barlow"/>
                <a:ea typeface="Barlow"/>
                <a:cs typeface="Barlow"/>
                <a:sym typeface="Barlow"/>
              </a:rPr>
              <a:t>Support Requested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Pilot implementation approval.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Stakeholder validation of impact assumptions.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Access to operational users for live testing.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Support for Stage 3 enhancements.</a:t>
            </a:r>
          </a:p>
          <a:p>
            <a:pPr marL="471330" lvl="1" algn="l">
              <a:lnSpc>
                <a:spcPts val="6549"/>
              </a:lnSpc>
            </a:pPr>
            <a:r>
              <a:rPr lang="en-US" sz="4366" b="1" spc="21" dirty="0">
                <a:latin typeface="Barlow"/>
                <a:ea typeface="Barlow"/>
                <a:cs typeface="Barlow"/>
                <a:sym typeface="Barlow"/>
              </a:rPr>
              <a:t>Stage 3 Priorities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Swahili/English toggle.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Predictive analytics.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Accessibility audit.</a:t>
            </a:r>
          </a:p>
          <a:p>
            <a:pPr marL="942660" lvl="1" indent="-471330" algn="l">
              <a:lnSpc>
                <a:spcPts val="6549"/>
              </a:lnSpc>
              <a:buFont typeface="Arial"/>
              <a:buChar char="•"/>
            </a:pPr>
            <a:r>
              <a:rPr lang="en-US" sz="4366" b="1" spc="21" dirty="0">
                <a:solidFill>
                  <a:srgbClr val="A61146"/>
                </a:solidFill>
                <a:latin typeface="Barlow"/>
                <a:ea typeface="Barlow"/>
                <a:cs typeface="Barlow"/>
                <a:sym typeface="Barlow"/>
              </a:rPr>
              <a:t>Expanded user validation.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66800" y="371475"/>
            <a:ext cx="689673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20"/>
              </a:lnSpc>
              <a:spcBef>
                <a:spcPct val="0"/>
              </a:spcBef>
            </a:pPr>
            <a:r>
              <a:rPr lang="en-US" sz="8100" b="1" dirty="0">
                <a:solidFill>
                  <a:srgbClr val="0BB6BC"/>
                </a:solidFill>
                <a:latin typeface="Barlow Bold"/>
                <a:ea typeface="Barlow Bold"/>
                <a:cs typeface="Barlow Bold"/>
                <a:sym typeface="Barlow Bold"/>
              </a:rPr>
              <a:t>Our Ask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09612" y="1070722"/>
            <a:ext cx="13944632" cy="1985652"/>
            <a:chOff x="0" y="0"/>
            <a:chExt cx="18592843" cy="2647536"/>
          </a:xfrm>
        </p:grpSpPr>
        <p:sp>
          <p:nvSpPr>
            <p:cNvPr id="3" name="TextBox 3"/>
            <p:cNvSpPr txBox="1"/>
            <p:nvPr/>
          </p:nvSpPr>
          <p:spPr>
            <a:xfrm>
              <a:off x="0" y="0"/>
              <a:ext cx="18592843" cy="1638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720"/>
                </a:lnSpc>
              </a:pPr>
              <a:r>
                <a:rPr lang="en-US" sz="8100" b="1" u="none" dirty="0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Team Members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939934"/>
              <a:ext cx="16429858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 b="1" dirty="0" smtClean="0">
                  <a:solidFill>
                    <a:srgbClr val="90113E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Apex Innovators</a:t>
              </a:r>
              <a:endParaRPr lang="en-US" sz="3199" b="1" dirty="0">
                <a:solidFill>
                  <a:srgbClr val="90113E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365905" y="5058975"/>
            <a:ext cx="2637502" cy="2637492"/>
            <a:chOff x="0" y="0"/>
            <a:chExt cx="6350000" cy="634997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65432" t="-18314" r="-16050" b="-2675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617368" y="5010959"/>
            <a:ext cx="2755949" cy="2953946"/>
            <a:chOff x="-285171" y="0"/>
            <a:chExt cx="6635171" cy="7111863"/>
          </a:xfrm>
        </p:grpSpPr>
        <p:sp>
          <p:nvSpPr>
            <p:cNvPr id="12" name="Freeform 12"/>
            <p:cNvSpPr/>
            <p:nvPr/>
          </p:nvSpPr>
          <p:spPr>
            <a:xfrm>
              <a:off x="-285171" y="0"/>
              <a:ext cx="6635171" cy="7111863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7611" b="-42388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3209612" y="8203911"/>
            <a:ext cx="2429727" cy="1493542"/>
            <a:chOff x="0" y="-19050"/>
            <a:chExt cx="3239636" cy="1415325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32396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</a:pPr>
              <a:r>
                <a:rPr lang="en-US" sz="3000" b="1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ST</a:t>
              </a:r>
              <a:r>
                <a:rPr lang="en-US" sz="3000" b="1" u="none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ANLEY METONE</a:t>
              </a:r>
              <a:endParaRPr lang="en-US" sz="30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16630"/>
              <a:ext cx="3239636" cy="579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Project Lead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839702" y="8203911"/>
            <a:ext cx="2429727" cy="1493542"/>
            <a:chOff x="0" y="-19050"/>
            <a:chExt cx="3239636" cy="1415325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32396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</a:pPr>
              <a:r>
                <a:rPr lang="en-US" sz="3000" b="1" u="none" dirty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3000" b="1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KIMATHI DAVI</a:t>
              </a:r>
              <a:r>
                <a:rPr lang="en-US" sz="3000" b="1" dirty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D</a:t>
              </a:r>
              <a:endParaRPr lang="en-US" sz="30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16630"/>
              <a:ext cx="3239636" cy="579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Data Engineer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69792" y="8203912"/>
            <a:ext cx="2429727" cy="2083088"/>
            <a:chOff x="0" y="-19050"/>
            <a:chExt cx="3239636" cy="206507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3239636" cy="12311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</a:pPr>
              <a:r>
                <a:rPr lang="en-US" sz="3000" b="1" u="none" dirty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3000" b="1" dirty="0" err="1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Jackline</a:t>
              </a:r>
              <a:r>
                <a:rPr lang="en-US" sz="3000" b="1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3000" b="1" dirty="0" err="1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Mboya</a:t>
              </a:r>
              <a:endParaRPr lang="en-US" sz="30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16630"/>
              <a:ext cx="3239636" cy="12293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Business Analyst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099882" y="8203910"/>
            <a:ext cx="2429727" cy="1349163"/>
            <a:chOff x="0" y="-19050"/>
            <a:chExt cx="3239636" cy="1415325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32396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00"/>
                </a:lnSpc>
              </a:pPr>
              <a:r>
                <a:rPr lang="en-US" sz="3000" b="1" u="none" dirty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 </a:t>
              </a:r>
              <a:r>
                <a:rPr lang="en-US" sz="3000" b="1" dirty="0" smtClean="0">
                  <a:solidFill>
                    <a:srgbClr val="90113E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PATRICK KARIUKI</a:t>
              </a:r>
              <a:endParaRPr lang="en-US" sz="3000" b="1" u="none" dirty="0">
                <a:solidFill>
                  <a:srgbClr val="90113E"/>
                </a:solidFill>
                <a:latin typeface="Barlow Semi-Bold"/>
                <a:ea typeface="Barlow Semi-Bold"/>
                <a:cs typeface="Barlow Semi-Bold"/>
                <a:sym typeface="Barlow Semi-Bold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816630"/>
              <a:ext cx="3239636" cy="579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dirty="0">
                  <a:solidFill>
                    <a:srgbClr val="90113E"/>
                  </a:solidFill>
                  <a:latin typeface="Barlow"/>
                  <a:ea typeface="Barlow"/>
                  <a:cs typeface="Barlow"/>
                  <a:sym typeface="Barlow"/>
                </a:rPr>
                <a:t>QA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0" y="0"/>
            <a:ext cx="1902317" cy="10287000"/>
          </a:xfrm>
          <a:prstGeom prst="rect">
            <a:avLst/>
          </a:prstGeom>
          <a:solidFill>
            <a:srgbClr val="90113E"/>
          </a:solidFill>
        </p:spPr>
      </p:sp>
      <p:sp>
        <p:nvSpPr>
          <p:cNvPr id="26" name="Freeform 26"/>
          <p:cNvSpPr/>
          <p:nvPr/>
        </p:nvSpPr>
        <p:spPr>
          <a:xfrm>
            <a:off x="-1902317" y="-84320"/>
            <a:ext cx="3804634" cy="10455640"/>
          </a:xfrm>
          <a:custGeom>
            <a:avLst/>
            <a:gdLst/>
            <a:ahLst/>
            <a:cxnLst/>
            <a:rect l="l" t="t" r="r" b="b"/>
            <a:pathLst>
              <a:path w="3804634" h="10455640">
                <a:moveTo>
                  <a:pt x="0" y="0"/>
                </a:moveTo>
                <a:lnTo>
                  <a:pt x="3804634" y="0"/>
                </a:lnTo>
                <a:lnTo>
                  <a:pt x="3804634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 r="-174813"/>
            </a:stretch>
          </a:blipFill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18" y="4940817"/>
            <a:ext cx="3355482" cy="319732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9801" y="4940816"/>
            <a:ext cx="2438400" cy="3024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34634" y="-84320"/>
            <a:ext cx="10455640" cy="10455640"/>
          </a:xfrm>
          <a:custGeom>
            <a:avLst/>
            <a:gdLst/>
            <a:ahLst/>
            <a:cxnLst/>
            <a:rect l="l" t="t" r="r" b="b"/>
            <a:pathLst>
              <a:path w="10455640" h="10455640">
                <a:moveTo>
                  <a:pt x="0" y="0"/>
                </a:moveTo>
                <a:lnTo>
                  <a:pt x="10455640" y="0"/>
                </a:lnTo>
                <a:lnTo>
                  <a:pt x="10455640" y="10455640"/>
                </a:lnTo>
                <a:lnTo>
                  <a:pt x="0" y="10455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xmlns="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44460" y="3830244"/>
            <a:ext cx="10199079" cy="3464286"/>
            <a:chOff x="0" y="285750"/>
            <a:chExt cx="13598772" cy="4619047"/>
          </a:xfrm>
        </p:grpSpPr>
        <p:sp>
          <p:nvSpPr>
            <p:cNvPr id="4" name="TextBox 4"/>
            <p:cNvSpPr txBox="1"/>
            <p:nvPr/>
          </p:nvSpPr>
          <p:spPr>
            <a:xfrm>
              <a:off x="0" y="285750"/>
              <a:ext cx="13598772" cy="2762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5000" b="1">
                  <a:solidFill>
                    <a:srgbClr val="0BB6BC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Thank you!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365915"/>
              <a:ext cx="13219076" cy="1538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 b="1" dirty="0" smtClean="0">
                  <a:solidFill>
                    <a:srgbClr val="A61146"/>
                  </a:solidFill>
                  <a:latin typeface="Barlow Medium"/>
                  <a:ea typeface="Barlow Medium"/>
                  <a:cs typeface="Barlow Medium"/>
                  <a:sym typeface="Barlow Medium"/>
                  <a:hlinkClick r:id="rId3"/>
                </a:rPr>
                <a:t>stanleymetone@gmail.com</a:t>
              </a:r>
              <a:endParaRPr lang="en-US" sz="3199" b="1" dirty="0" smtClean="0">
                <a:solidFill>
                  <a:srgbClr val="A61146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  <a:p>
              <a:pPr algn="ctr">
                <a:lnSpc>
                  <a:spcPts val="4479"/>
                </a:lnSpc>
              </a:pPr>
              <a:r>
                <a:rPr lang="en-US" sz="3199" b="1" dirty="0" smtClean="0">
                  <a:solidFill>
                    <a:srgbClr val="000000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+254 707394175</a:t>
              </a:r>
              <a:endParaRPr lang="en-US" sz="3199" b="1" dirty="0">
                <a:solidFill>
                  <a:srgbClr val="000000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050357" y="9484941"/>
            <a:ext cx="798886" cy="34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49"/>
              </a:lnSpc>
            </a:pPr>
            <a:r>
              <a:rPr lang="en-US" sz="2199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407</TotalTime>
  <Words>1099</Words>
  <Application>Microsoft Office PowerPoint</Application>
  <PresentationFormat>Custom</PresentationFormat>
  <Paragraphs>228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Calibri</vt:lpstr>
      <vt:lpstr>Cambria</vt:lpstr>
      <vt:lpstr>Barlow</vt:lpstr>
      <vt:lpstr>Barlow Semi-Bold</vt:lpstr>
      <vt:lpstr>Barlow Medium</vt:lpstr>
      <vt:lpstr>Barlow Bold</vt:lpstr>
      <vt:lpstr>Segoe UI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PLP Standard Pitch Deck Template</dc:title>
  <dc:creator>Patrick.Kariuki</dc:creator>
  <cp:lastModifiedBy>user</cp:lastModifiedBy>
  <cp:revision>29</cp:revision>
  <dcterms:created xsi:type="dcterms:W3CDTF">2006-08-16T00:00:00Z</dcterms:created>
  <dcterms:modified xsi:type="dcterms:W3CDTF">2026-08-25T22:37:49Z</dcterms:modified>
  <dc:identifier>DAGTAHxtlGI</dc:identifier>
</cp:coreProperties>
</file>